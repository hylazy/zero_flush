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Slides/notesSlide10.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Layouts/slideLayout9.xml" ContentType="application/vnd.openxmlformats-officedocument.presentationml.slideLayout+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presProps.xml" ContentType="application/vnd.openxmlformats-officedocument.presentationml.presProps+xml"/>
  <Override PartName="/ppt/slides/slide15.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slides/slide2.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ppt/slides/slide7.xml" ContentType="application/vnd.openxmlformats-officedocument.presentationml.slide+xml"/>
  <Override PartName="/ppt/viewProps.xml" ContentType="application/vnd.openxmlformats-officedocument.presentationml.viewProp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theme/theme2.xml" ContentType="application/vnd.openxmlformats-officedocument.them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s>
</file>

<file path=ppt/presentation.xml><?xml version="1.0" encoding="utf-8"?>
<p:presentation xmlns:p="http://schemas.openxmlformats.org/presentationml/2006/main" xmlns:r="http://schemas.openxmlformats.org/officeDocument/2006/relationships" xmlns:a="http://schemas.openxmlformats.org/drawingml/2006/main" firstSlideNum="1">
  <p:sldMasterIdLst>
    <p:sldMasterId id="2147483648" r:id="rId0"/>
  </p:sldMasterIdLst>
  <p:notesMasterIdLst>
    <p:notesMasterId r:id="rId18"/>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p:normalViewPr>
    <p:restoredLeft sz="15620"/>
    <p:restoredTop sz="94660"/>
  </p:normalViewPr>
  <p:slideViewPr>
    <p:cSldViewPr snapToGrid="0" snapToObjects="1">
      <p:cViewPr varScale="1">
        <p:scale>
          <a:sx n="100" d="100"/>
          <a:sy n="100" d="100"/>
        </p:scale>
        <p:origin x="756" y="90"/>
      </p:cViewPr>
      <p:guideLst/>
    </p:cSldViewPr>
  </p:slid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4" Type="http://schemas.openxmlformats.org/officeDocument/2006/relationships/slide" Target="slides/slide14.xml" /><Relationship Id="rId0" Type="http://schemas.openxmlformats.org/officeDocument/2006/relationships/slideMaster" Target="slideMasters/slideMaster1.xml" /><Relationship Id="rId1" Type="http://schemas.openxmlformats.org/officeDocument/2006/relationships/slide" Target="slides/slide1.xml" /><Relationship Id="rId15" Type="http://schemas.openxmlformats.org/officeDocument/2006/relationships/slide" Target="slides/slide15.xml" /><Relationship Id="rId10" Type="http://schemas.openxmlformats.org/officeDocument/2006/relationships/slide" Target="slides/slide10.xml" /><Relationship Id="rId13" Type="http://schemas.openxmlformats.org/officeDocument/2006/relationships/slide" Target="slides/slide13.xml" /><Relationship Id="rId11" Type="http://schemas.openxmlformats.org/officeDocument/2006/relationships/slide" Target="slides/slide11.xml" /><Relationship Id="rId12" Type="http://schemas.openxmlformats.org/officeDocument/2006/relationships/slide" Target="slides/slide12.xml" /><Relationship Id="rId16" Type="http://schemas.openxmlformats.org/officeDocument/2006/relationships/slide" Target="slides/slide16.xml" /><Relationship Id="rId17" Type="http://schemas.openxmlformats.org/officeDocument/2006/relationships/slide" Target="slides/slide17.xml" /><Relationship Id="rId9" Type="http://schemas.openxmlformats.org/officeDocument/2006/relationships/slide" Target="slides/slide9.xml" /><Relationship Id="rId18" Type="http://schemas.openxmlformats.org/officeDocument/2006/relationships/notesMaster" Target="notesMasters/notesMaster1.xml" /><Relationship Id="rId19" Type="http://schemas.openxmlformats.org/officeDocument/2006/relationships/presProps" Target="presProps.xml" /><Relationship Id="rId2" Type="http://schemas.openxmlformats.org/officeDocument/2006/relationships/slide" Target="slides/slide2.xml" /><Relationship Id="rId20" Type="http://schemas.openxmlformats.org/officeDocument/2006/relationships/tableStyles" Target="tableStyles.xml" /><Relationship Id="rId21" Type="http://schemas.openxmlformats.org/officeDocument/2006/relationships/viewProps" Target="viewProps.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0"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10.xml" /><Relationship Id="rId1"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11.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12.xml" /><Relationship Id="rId1"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3.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14.xml" /><Relationship Id="rId1" Type="http://schemas.openxmlformats.org/officeDocument/2006/relationships/notesMaster" Target="../notesMasters/notesMaster1.xml" /></Relationships>
</file>

<file path=ppt/notesSlides/_rels/notesSlide7.xml.rels><?xml version="1.0" encoding="UTF-8" standalone="yes"?><Relationships xmlns="http://schemas.openxmlformats.org/package/2006/relationships"><Relationship Id="rId0" Type="http://schemas.openxmlformats.org/officeDocument/2006/relationships/slide" Target="../slides/slide15.xml" /><Relationship Id="rId1" Type="http://schemas.openxmlformats.org/officeDocument/2006/relationships/notesMaster" Target="../notesMasters/notesMaster1.xml" /></Relationships>
</file>

<file path=ppt/notesSlides/_rels/notesSlide8.xml.rels><?xml version="1.0" encoding="UTF-8" standalone="yes"?><Relationships xmlns="http://schemas.openxmlformats.org/package/2006/relationships"><Relationship Id="rId0"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 standalone="yes"?><Relationships xmlns="http://schemas.openxmlformats.org/package/2006/relationships"><Relationship Id="rId0" Type="http://schemas.openxmlformats.org/officeDocument/2006/relationships/slide" Target="../slides/slide3.xml" /><Relationship Id="rId1" Type="http://schemas.openxmlformats.org/officeDocument/2006/relationships/notesMaster" Target="../notesMasters/notesMaster1.xml" /></Relationships>
</file>

<file path=ppt/notesSlides/_rels/notesSlide10.xml.rels><?xml version="1.0" encoding="UTF-8" standalone="yes"?><Relationships xmlns="http://schemas.openxmlformats.org/package/2006/relationships"><Relationship Id="rId0" Type="http://schemas.openxmlformats.org/officeDocument/2006/relationships/slide" Target="../slides/slide4.xml" /><Relationship Id="rId1" Type="http://schemas.openxmlformats.org/officeDocument/2006/relationships/notesMaster" Target="../notesMasters/notesMaster1.xml" /></Relationships>
</file>

<file path=ppt/notesSlides/_rels/notesSlide11.xml.rels><?xml version="1.0" encoding="UTF-8" standalone="yes"?><Relationships xmlns="http://schemas.openxmlformats.org/package/2006/relationships"><Relationship Id="rId0" Type="http://schemas.openxmlformats.org/officeDocument/2006/relationships/slide" Target="../slides/slide5.xml" /><Relationship Id="rId1" Type="http://schemas.openxmlformats.org/officeDocument/2006/relationships/notesMaster" Target="../notesMasters/notesMaster1.xml" /></Relationships>
</file>

<file path=ppt/notesSlides/_rels/notesSlide12.xml.rels><?xml version="1.0" encoding="UTF-8" standalone="yes"?><Relationships xmlns="http://schemas.openxmlformats.org/package/2006/relationships"><Relationship Id="rId0" Type="http://schemas.openxmlformats.org/officeDocument/2006/relationships/slide" Target="../slides/slide6.xml" /><Relationship Id="rId1" Type="http://schemas.openxmlformats.org/officeDocument/2006/relationships/notesMaster" Target="../notesMasters/notesMaster1.xml" /></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xml" /></Relationships>
</file>

<file path=ppt/notesSlides/_rels/notesSlide14.xml.rels><?xml version="1.0" encoding="UTF-8" standalone="yes"?><Relationships xmlns="http://schemas.openxmlformats.org/package/2006/relationships"><Relationship Id="rId0" Type="http://schemas.openxmlformats.org/officeDocument/2006/relationships/slide" Target="../slides/slide8.xml" /><Relationship Id="rId1" Type="http://schemas.openxmlformats.org/officeDocument/2006/relationships/notesMaster" Target="../notesMasters/notesMaster1.xml" /></Relationships>
</file>

<file path=ppt/notesSlides/_rels/notesSlide15.xml.rels><?xml version="1.0" encoding="UTF-8" standalone="yes"?><Relationships xmlns="http://schemas.openxmlformats.org/package/2006/relationships"><Relationship Id="rId0"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p/>
        </p:txBody>
      </p:sp>
      <p:sp>
        <p:nvSpPr>
          <p:cNvPr id="3" name="Notes Placeholder 2"/>
          <p:cNvSpPr>
            <a:spLocks noGrp="1"/>
          </p:cNvSpPr>
          <p:nvPr>
            <p:ph type="body" sz="quarter" idx="3"/>
          </p:nvPr>
        </p:nvSpPr>
        <p:spPr/>
        <p:txBody>
          <a:bodyPr/>
          <a:lstStyle/>
          <a:p>
            <a:pPr/>
            <a:r>
              <a:rPr/>
              <a:t>REVIEW: Title uses "CSD-Native" to signal architectural redesign, not just offloading. Consider alternative: "Flush-Free LSM". Venue TBD - FAST is ideal fit.</a:t>
            </a:r>
            <a:endParaRPr/>
          </a:p>
        </p:txBody>
      </p:sp>
      <p:sp>
        <p:nvSpPr>
          <p:cNvPr id="4" name="Slide Number Placeholder 3"/>
          <p:cNvSpPr>
            <a:spLocks noGrp="1"/>
          </p:cNvSpPr>
          <p:nvPr>
            <p:ph type="sldNum" sz="quarter" idx="5"/>
          </p:nvPr>
        </p:nvSpPr>
        <p:spPr/>
        <p:txBody>
          <a:bodyP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Slide Image Placeholder 1"/>
          <p:cNvSpPr>
            <a:spLocks noGrp="1" noRot="1" noChangeAspect="1"/>
          </p:cNvSpPr>
          <p:nvPr>
            <p:ph type="sldImg" idx="2"/>
          </p:nvPr>
        </p:nvSpPr>
        <p:spPr/>
        <p:txBody>
          <a:bodyPr/>
          <a:p/>
        </p:txBody>
      </p:sp>
      <p:sp>
        <p:nvSpPr>
          <p:cNvPr id="7" name="Notes Placeholder 2"/>
          <p:cNvSpPr>
            <a:spLocks noGrp="1"/>
          </p:cNvSpPr>
          <p:nvPr>
            <p:ph type="body" sz="quarter" idx="3"/>
          </p:nvPr>
        </p:nvSpPr>
        <p:spPr/>
        <p:txBody>
          <a:bodyPr/>
          <a:lstStyle/>
          <a:p>
            <a:pPr/>
            <a:r>
              <a:rPr/>
              <a:t>REVIEW [LOGIC ISSUE]: L1 key ranges CHANGE after compaction (splits/merges). When L1 boundaries shift, existing WAL partitions may no longer align. Need to address: (a) how to handle boundary changes - freeze old partitions and start new ones? (b) what happens to in-flight partitions during rebalancing? This is a significant gap. Suggest: treat L1 boundaries as "soft" - partitions are created against current boundaries and remain valid even if L1 later splits. The CSD compaction handles the mismatch by doing a proper merge regardless of exact boundary alignment.</a:t>
            </a:r>
            <a:endParaRPr/>
          </a:p>
        </p:txBody>
      </p:sp>
      <p:sp>
        <p:nvSpPr>
          <p:cNvPr id="8" name="Slide Number Placeholder 3"/>
          <p:cNvSpPr>
            <a:spLocks noGrp="1"/>
          </p:cNvSpPr>
          <p:nvPr>
            <p:ph type="sldNum" sz="quarter" idx="5"/>
          </p:nvPr>
        </p:nvSpPr>
        <p:spPr/>
        <p:txBody>
          <a:bodyP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9" name=""/>
        <p:cNvGrpSpPr/>
        <p:nvPr/>
      </p:nvGrpSpPr>
      <p:grpSpPr>
        <a:xfrm>
          <a:off x="0" y="0"/>
          <a:ext cx="0" cy="0"/>
          <a:chOff x="0" y="0"/>
          <a:chExt cx="0" cy="0"/>
        </a:xfrm>
      </p:grpSpPr>
      <p:sp>
        <p:nvSpPr>
          <p:cNvPr id="10" name="Slide Image Placeholder 1"/>
          <p:cNvSpPr>
            <a:spLocks noGrp="1" noRot="1" noChangeAspect="1"/>
          </p:cNvSpPr>
          <p:nvPr>
            <p:ph type="sldImg" idx="2"/>
          </p:nvPr>
        </p:nvSpPr>
        <p:spPr/>
        <p:txBody>
          <a:bodyPr/>
          <a:p/>
        </p:txBody>
      </p:sp>
      <p:sp>
        <p:nvSpPr>
          <p:cNvPr id="11" name="Notes Placeholder 2"/>
          <p:cNvSpPr>
            <a:spLocks noGrp="1"/>
          </p:cNvSpPr>
          <p:nvPr>
            <p:ph type="body" sz="quarter" idx="3"/>
          </p:nvPr>
        </p:nvSpPr>
        <p:spPr/>
        <p:txBody>
          <a:bodyPr/>
          <a:lstStyle/>
          <a:p>
            <a:pPr/>
            <a:r>
              <a:rPr/>
              <a:t>REVIEW [LOGIC ISSUE]: Calling an unordered WAL partition an "L0 SSTable" is a stretch. SSTable implies sorted + encoded + indexed. WAL partition is none of these. Two options: (a) define a new term "WAL-SSTable" or "raw L0" and be explicit that it lacks sort/encoding; (b) have CSD add minimal encoding (block headers) at write time so it is closer to SSTable format. Option (a) is more honest. The key claim should be "flush is eliminated" not "WAL is SSTable" - the format conversion happens during CSD compaction, not at write time.</a:t>
            </a:r>
            <a:endParaRPr/>
          </a:p>
        </p:txBody>
      </p:sp>
      <p:sp>
        <p:nvSpPr>
          <p:cNvPr id="12" name="Slide Number Placeholder 3"/>
          <p:cNvSpPr>
            <a:spLocks noGrp="1"/>
          </p:cNvSpPr>
          <p:nvPr>
            <p:ph type="sldNum" sz="quarter" idx="5"/>
          </p:nvPr>
        </p:nvSpPr>
        <p:spPr/>
        <p:txBody>
          <a:bodyP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13" name=""/>
        <p:cNvGrpSpPr/>
        <p:nvPr/>
      </p:nvGrpSpPr>
      <p:grpSpPr>
        <a:xfrm>
          <a:off x="0" y="0"/>
          <a:ext cx="0" cy="0"/>
          <a:chOff x="0" y="0"/>
          <a:chExt cx="0" cy="0"/>
        </a:xfrm>
      </p:grpSpPr>
      <p:sp>
        <p:nvSpPr>
          <p:cNvPr id="14" name="Slide Image Placeholder 1"/>
          <p:cNvSpPr>
            <a:spLocks noGrp="1" noRot="1" noChangeAspect="1"/>
          </p:cNvSpPr>
          <p:nvPr>
            <p:ph type="sldImg" idx="2"/>
          </p:nvPr>
        </p:nvSpPr>
        <p:spPr/>
        <p:txBody>
          <a:bodyPr/>
          <a:p/>
        </p:txBody>
      </p:sp>
      <p:sp>
        <p:nvSpPr>
          <p:cNvPr id="15" name="Notes Placeholder 2"/>
          <p:cNvSpPr>
            <a:spLocks noGrp="1"/>
          </p:cNvSpPr>
          <p:nvPr>
            <p:ph type="body" sz="quarter" idx="3"/>
          </p:nvPr>
        </p:nvSpPr>
        <p:spPr/>
        <p:txBody>
          <a:bodyPr/>
          <a:lstStyle/>
          <a:p>
            <a:pPr/>
            <a:r>
              <a:rPr/>
              <a:t>REVIEW [LOGIC ISSUE]: The "sort becomes seq-read" claim needs nuance. Index-order reads are RANDOM reads on NAND, not sequential. Random read throughput (~1.5 GB/s) is lower than sequential (~3.5 GB/s). For a 64MB partition with 60K entries, random reads take ~40ms vs sequential ~18ms. The advantage is NOT speed - it is DRAM savings (O(1) vs O(n)) and FPGA simplicity (state machine vs sort network). Frame it correctly: "eliminates the need for sorting logic and large DRAM buffers" rather than "faster than sorting."</a:t>
            </a:r>
            <a:endParaRPr/>
          </a:p>
        </p:txBody>
      </p:sp>
      <p:sp>
        <p:nvSpPr>
          <p:cNvPr id="16" name="Slide Number Placeholder 3"/>
          <p:cNvSpPr>
            <a:spLocks noGrp="1"/>
          </p:cNvSpPr>
          <p:nvPr>
            <p:ph type="sldNum" sz="quarter" idx="5"/>
          </p:nvPr>
        </p:nvSpPr>
        <p:spPr/>
        <p:txBody>
          <a:bodyP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17" name=""/>
        <p:cNvGrpSpPr/>
        <p:nvPr/>
      </p:nvGrpSpPr>
      <p:grpSpPr>
        <a:xfrm>
          <a:off x="0" y="0"/>
          <a:ext cx="0" cy="0"/>
          <a:chOff x="0" y="0"/>
          <a:chExt cx="0" cy="0"/>
        </a:xfrm>
      </p:grpSpPr>
      <p:sp>
        <p:nvSpPr>
          <p:cNvPr id="18" name="Slide Image Placeholder 1"/>
          <p:cNvSpPr>
            <a:spLocks noGrp="1" noRot="1" noChangeAspect="1"/>
          </p:cNvSpPr>
          <p:nvPr>
            <p:ph type="sldImg" idx="2"/>
          </p:nvPr>
        </p:nvSpPr>
        <p:spPr/>
        <p:txBody>
          <a:bodyPr/>
          <a:p/>
        </p:txBody>
      </p:sp>
      <p:sp>
        <p:nvSpPr>
          <p:cNvPr id="19" name="Notes Placeholder 2"/>
          <p:cNvSpPr>
            <a:spLocks noGrp="1"/>
          </p:cNvSpPr>
          <p:nvPr>
            <p:ph type="body" sz="quarter" idx="3"/>
          </p:nvPr>
        </p:nvSpPr>
        <p:spPr/>
        <p:txBody>
          <a:bodyPr/>
          <a:lstStyle/>
          <a:p>
            <a:pPr/>
            <a:r>
              <a:rPr/>
              <a:t>REVIEW: This is the FPGA Compaction (FAST 20) comparison point. Key differences to emphasize: (1) FAST 20 assumes BOTH inputs are sorted SSTables; you handle an UNORDERED WAL partition via index-guided reads. (2) FAST 20 is a bolt-on accelerator; your compaction is the ONLY path from L0 to L1 - there is no host-side fallback. (3) Your pipeline includes dedup by seq_number (version resolution), which FAST 20 does not need. Need FPGA resource estimate: merge comparator + encoder is much simpler than sort network, so more CUs can fit.</a:t>
            </a:r>
            <a:endParaRPr/>
          </a:p>
        </p:txBody>
      </p:sp>
      <p:sp>
        <p:nvSpPr>
          <p:cNvPr id="20" name="Slide Number Placeholder 3"/>
          <p:cNvSpPr>
            <a:spLocks noGrp="1"/>
          </p:cNvSpPr>
          <p:nvPr>
            <p:ph type="sldNum" sz="quarter" idx="5"/>
          </p:nvPr>
        </p:nvSpPr>
        <p:spPr/>
        <p:txBody>
          <a:bodyP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21" name=""/>
        <p:cNvGrpSpPr/>
        <p:nvPr/>
      </p:nvGrpSpPr>
      <p:grpSpPr>
        <a:xfrm>
          <a:off x="0" y="0"/>
          <a:ext cx="0" cy="0"/>
          <a:chOff x="0" y="0"/>
          <a:chExt cx="0" cy="0"/>
        </a:xfrm>
      </p:grpSpPr>
      <p:sp>
        <p:nvSpPr>
          <p:cNvPr id="22" name="Slide Image Placeholder 1"/>
          <p:cNvSpPr>
            <a:spLocks noGrp="1" noRot="1" noChangeAspect="1"/>
          </p:cNvSpPr>
          <p:nvPr>
            <p:ph type="sldImg" idx="2"/>
          </p:nvPr>
        </p:nvSpPr>
        <p:spPr/>
        <p:txBody>
          <a:bodyPr/>
          <a:p/>
        </p:txBody>
      </p:sp>
      <p:sp>
        <p:nvSpPr>
          <p:cNvPr id="23" name="Notes Placeholder 2"/>
          <p:cNvSpPr>
            <a:spLocks noGrp="1"/>
          </p:cNvSpPr>
          <p:nvPr>
            <p:ph type="body" sz="quarter" idx="3"/>
          </p:nvPr>
        </p:nvSpPr>
        <p:spPr/>
        <p:txBody>
          <a:bodyPr/>
          <a:lstStyle/>
          <a:p>
            <a:pPr/>
            <a:r>
              <a:rPr/>
              <a:t>REVIEW: This comparison table is the money slide. But verify the NAND write accounting: Traditional = WAL(1x) + flush(1x) + compaction read(1x) + compaction write(1x) = 3 writes + 1 read. ZeroFlush = WAL(1x) + compaction read(1x) + compaction write(1x) = 2 writes + 1 read. The "3x vs 2x" is about WRITES only. Be precise in the paper: "eliminates one full NAND write pass (the flush)." PCIe: traditional has WAL write + flush write + compaction read + compaction write = 4 crossings. ZeroFlush has WAL write + (index push, negligible) = ~1 crossing. This is correct.</a:t>
            </a:r>
            <a:endParaRPr/>
          </a:p>
        </p:txBody>
      </p:sp>
      <p:sp>
        <p:nvSpPr>
          <p:cNvPr id="24" name="Slide Number Placeholder 3"/>
          <p:cNvSpPr>
            <a:spLocks noGrp="1"/>
          </p:cNvSpPr>
          <p:nvPr>
            <p:ph type="sldNum" sz="quarter" idx="5"/>
          </p:nvPr>
        </p:nvSpPr>
        <p:spPr/>
        <p:txBody>
          <a:bodyPr/>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25" name=""/>
        <p:cNvGrpSpPr/>
        <p:nvPr/>
      </p:nvGrpSpPr>
      <p:grpSpPr>
        <a:xfrm>
          <a:off x="0" y="0"/>
          <a:ext cx="0" cy="0"/>
          <a:chOff x="0" y="0"/>
          <a:chExt cx="0" cy="0"/>
        </a:xfrm>
      </p:grpSpPr>
      <p:sp>
        <p:nvSpPr>
          <p:cNvPr id="26" name="Slide Image Placeholder 1"/>
          <p:cNvSpPr>
            <a:spLocks noGrp="1" noRot="1" noChangeAspect="1"/>
          </p:cNvSpPr>
          <p:nvPr>
            <p:ph type="sldImg" idx="2"/>
          </p:nvPr>
        </p:nvSpPr>
        <p:spPr/>
        <p:txBody>
          <a:bodyPr/>
          <a:p/>
        </p:txBody>
      </p:sp>
      <p:sp>
        <p:nvSpPr>
          <p:cNvPr id="27" name="Notes Placeholder 2"/>
          <p:cNvSpPr>
            <a:spLocks noGrp="1"/>
          </p:cNvSpPr>
          <p:nvPr>
            <p:ph type="body" sz="quarter" idx="3"/>
          </p:nvPr>
        </p:nvSpPr>
        <p:spPr/>
        <p:txBody>
          <a:bodyPr/>
          <a:lstStyle/>
          <a:p>
            <a:pPr/>
            <a:r>
              <a:rPr/>
              <a:t>REVIEW [QUALITY ISSUE]: No experimental data yet. This is acceptable for a proposal/early-stage presentation but NOT for a paper submission. Before submission: (1) implement a prototype (even software-only simulation of WAL partitioning + index); (2) run YCSB on RocksDB with modified flush path; (3) measure actual write amp, throughput, stall time. The "expected outcomes" must become "measured outcomes." Also: include a "ZeroFlush w/o CSD" baseline to isolate the benefit of WAL partitioning alone vs the full CSD pipeline.</a:t>
            </a:r>
            <a:endParaRPr/>
          </a:p>
        </p:txBody>
      </p:sp>
      <p:sp>
        <p:nvSpPr>
          <p:cNvPr id="28" name="Slide Number Placeholder 3"/>
          <p:cNvSpPr>
            <a:spLocks noGrp="1"/>
          </p:cNvSpPr>
          <p:nvPr>
            <p:ph type="sldNum" sz="quarter" idx="5"/>
          </p:nvPr>
        </p:nvSpPr>
        <p:spPr/>
        <p:txBody>
          <a:bodyPr/>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29" name=""/>
        <p:cNvGrpSpPr/>
        <p:nvPr/>
      </p:nvGrpSpPr>
      <p:grpSpPr>
        <a:xfrm>
          <a:off x="0" y="0"/>
          <a:ext cx="0" cy="0"/>
          <a:chOff x="0" y="0"/>
          <a:chExt cx="0" cy="0"/>
        </a:xfrm>
      </p:grpSpPr>
      <p:sp>
        <p:nvSpPr>
          <p:cNvPr id="30" name="Slide Image Placeholder 1"/>
          <p:cNvSpPr>
            <a:spLocks noGrp="1" noRot="1" noChangeAspect="1"/>
          </p:cNvSpPr>
          <p:nvPr>
            <p:ph type="sldImg" idx="2"/>
          </p:nvPr>
        </p:nvSpPr>
        <p:spPr/>
        <p:txBody>
          <a:bodyPr/>
          <a:p/>
        </p:txBody>
      </p:sp>
      <p:sp>
        <p:nvSpPr>
          <p:cNvPr id="31" name="Notes Placeholder 2"/>
          <p:cNvSpPr>
            <a:spLocks noGrp="1"/>
          </p:cNvSpPr>
          <p:nvPr>
            <p:ph type="body" sz="quarter" idx="3"/>
          </p:nvPr>
        </p:nvSpPr>
        <p:spPr/>
        <p:txBody>
          <a:bodyPr/>
          <a:lstStyle/>
          <a:p>
            <a:pPr/>
            <a:r>
              <a:rPr/>
              <a:t>REVIEW: Open questions are honest and important. The L1 boundary rebalancing issue is the most critical - if not addressed convincingly, reviewers will reject. Suggest: add a "discussion" section in the paper showing that partition-boundary misalignment is handled gracefully by the merge step (CSD does a proper sorted merge regardless of exact boundary alignment, so slight misalignment only causes minor read amplification during compaction, not correctness issues).</a:t>
            </a:r>
            <a:endParaRPr/>
          </a:p>
        </p:txBody>
      </p:sp>
      <p:sp>
        <p:nvSpPr>
          <p:cNvPr id="32" name="Slide Number Placeholder 3"/>
          <p:cNvSpPr>
            <a:spLocks noGrp="1"/>
          </p:cNvSpPr>
          <p:nvPr>
            <p:ph type="sldNum" sz="quarter" idx="5"/>
          </p:nvPr>
        </p:nvSpPr>
        <p:spPr/>
        <p:txBody>
          <a:bodyPr/>
          <a:p/>
        </p:txBody>
      </p:sp>
    </p:spTree>
  </p:cSld>
  <p:clrMapOvr>
    <a:masterClrMapping/>
  </p:clrMapOvr>
</p:notes>
</file>

<file path=ppt/notesSlides/notesSlide9.xml><?xml version="1.0" encoding="utf-8"?>
<p:notes xmlns:p="http://schemas.openxmlformats.org/presentationml/2006/main" xmlns:a="http://schemas.openxmlformats.org/drawingml/2006/main">
  <p:cSld>
    <p:spTree>
      <p:nvGrpSpPr>
        <p:cNvPr id="33" name=""/>
        <p:cNvGrpSpPr/>
        <p:nvPr/>
      </p:nvGrpSpPr>
      <p:grpSpPr>
        <a:xfrm>
          <a:off x="0" y="0"/>
          <a:ext cx="0" cy="0"/>
          <a:chOff x="0" y="0"/>
          <a:chExt cx="0" cy="0"/>
        </a:xfrm>
      </p:grpSpPr>
      <p:sp>
        <p:nvSpPr>
          <p:cNvPr id="34" name="Slide Image Placeholder 1"/>
          <p:cNvSpPr>
            <a:spLocks noGrp="1" noRot="1" noChangeAspect="1"/>
          </p:cNvSpPr>
          <p:nvPr>
            <p:ph type="sldImg" idx="2"/>
          </p:nvPr>
        </p:nvSpPr>
        <p:spPr/>
        <p:txBody>
          <a:bodyPr/>
          <a:p/>
        </p:txBody>
      </p:sp>
      <p:sp>
        <p:nvSpPr>
          <p:cNvPr id="35" name="Notes Placeholder 2"/>
          <p:cNvSpPr>
            <a:spLocks noGrp="1"/>
          </p:cNvSpPr>
          <p:nvPr>
            <p:ph type="body" sz="quarter" idx="3"/>
          </p:nvPr>
        </p:nvSpPr>
        <p:spPr/>
        <p:txBody>
          <a:bodyPr/>
          <a:lstStyle/>
          <a:p>
            <a:pPr/>
            <a:r>
              <a:rPr/>
              <a:t>REVIEW: "3x write amplification" needs precise definition. Strictly: WAL(1x) + flush(1x) = 2x before compaction. Compaction is separate. Say "the write path touches NAND 3x" rather than "3x WA" to avoid reviewer pushback. WA is conventionally measured as total_bytes_written / user_bytes_written across the FULL lifecycle including compaction.</a:t>
            </a:r>
            <a:endParaRPr/>
          </a:p>
        </p:txBody>
      </p:sp>
      <p:sp>
        <p:nvSpPr>
          <p:cNvPr id="36" name="Slide Number Placeholder 3"/>
          <p:cNvSpPr>
            <a:spLocks noGrp="1"/>
          </p:cNvSpPr>
          <p:nvPr>
            <p:ph type="sldNum" sz="quarter" idx="5"/>
          </p:nvPr>
        </p:nvSpPr>
        <p:spPr/>
        <p:txBody>
          <a:bodyPr/>
          <a:p/>
        </p:txBody>
      </p:sp>
    </p:spTree>
  </p:cSld>
  <p:clrMapOvr>
    <a:masterClrMapping/>
  </p:clrMapOvr>
</p:notes>
</file>

<file path=ppt/notesSlides/notesSlide10.xml><?xml version="1.0" encoding="utf-8"?>
<p:notes xmlns:p="http://schemas.openxmlformats.org/presentationml/2006/main" xmlns:a="http://schemas.openxmlformats.org/drawingml/2006/main">
  <p:cSld>
    <p:spTree>
      <p:nvGrpSpPr>
        <p:cNvPr id="37" name=""/>
        <p:cNvGrpSpPr/>
        <p:nvPr/>
      </p:nvGrpSpPr>
      <p:grpSpPr>
        <a:xfrm>
          <a:off x="0" y="0"/>
          <a:ext cx="0" cy="0"/>
          <a:chOff x="0" y="0"/>
          <a:chExt cx="0" cy="0"/>
        </a:xfrm>
      </p:grpSpPr>
      <p:sp>
        <p:nvSpPr>
          <p:cNvPr id="38" name="Slide Image Placeholder 1"/>
          <p:cNvSpPr>
            <a:spLocks noGrp="1" noRot="1" noChangeAspect="1"/>
          </p:cNvSpPr>
          <p:nvPr>
            <p:ph type="sldImg" idx="2"/>
          </p:nvPr>
        </p:nvSpPr>
        <p:spPr/>
        <p:txBody>
          <a:bodyPr/>
          <a:p/>
        </p:txBody>
      </p:sp>
      <p:sp>
        <p:nvSpPr>
          <p:cNvPr id="39" name="Notes Placeholder 2"/>
          <p:cNvSpPr>
            <a:spLocks noGrp="1"/>
          </p:cNvSpPr>
          <p:nvPr>
            <p:ph type="body" sz="quarter" idx="3"/>
          </p:nvPr>
        </p:nvSpPr>
        <p:spPr/>
        <p:txBody>
          <a:bodyPr/>
          <a:lstStyle/>
          <a:p>
            <a:pPr/>
            <a:r>
              <a:rPr/>
              <a:t>REVIEW: The 1230s stall number comes from AegonKV paper Table 1 (RocksDB, YCSB-A). Cite explicitly. Logic is sound: overlap -&gt; read amp -&gt; more compaction -&gt; stall. But note: write stall is primarily caused by L0 file count exceeding slowdown/stop triggers, not directly by overlap per se. Overlap makes compaction heavier, which indirectly causes stall. Make this causal chain explicit.</a:t>
            </a:r>
            <a:endParaRPr/>
          </a:p>
        </p:txBody>
      </p:sp>
      <p:sp>
        <p:nvSpPr>
          <p:cNvPr id="40" name="Slide Number Placeholder 3"/>
          <p:cNvSpPr>
            <a:spLocks noGrp="1"/>
          </p:cNvSpPr>
          <p:nvPr>
            <p:ph type="sldNum" sz="quarter" idx="5"/>
          </p:nvPr>
        </p:nvSpPr>
        <p:spPr/>
        <p:txBody>
          <a:bodyPr/>
          <a:p/>
        </p:txBody>
      </p:sp>
    </p:spTree>
  </p:cSld>
  <p:clrMapOvr>
    <a:masterClrMapping/>
  </p:clrMapOvr>
</p:notes>
</file>

<file path=ppt/notesSlides/notesSlide11.xml><?xml version="1.0" encoding="utf-8"?>
<p:notes xmlns:p="http://schemas.openxmlformats.org/presentationml/2006/main" xmlns:a="http://schemas.openxmlformats.org/drawingml/2006/main">
  <p:cSld>
    <p:spTree>
      <p:nvGrpSpPr>
        <p:cNvPr id="41" name=""/>
        <p:cNvGrpSpPr/>
        <p:nvPr/>
      </p:nvGrpSpPr>
      <p:grpSpPr>
        <a:xfrm>
          <a:off x="0" y="0"/>
          <a:ext cx="0" cy="0"/>
          <a:chOff x="0" y="0"/>
          <a:chExt cx="0" cy="0"/>
        </a:xfrm>
      </p:grpSpPr>
      <p:sp>
        <p:nvSpPr>
          <p:cNvPr id="42" name="Slide Image Placeholder 1"/>
          <p:cNvSpPr>
            <a:spLocks noGrp="1" noRot="1" noChangeAspect="1"/>
          </p:cNvSpPr>
          <p:nvPr>
            <p:ph type="sldImg" idx="2"/>
          </p:nvPr>
        </p:nvSpPr>
        <p:spPr/>
        <p:txBody>
          <a:bodyPr/>
          <a:p/>
        </p:txBody>
      </p:sp>
      <p:sp>
        <p:nvSpPr>
          <p:cNvPr id="43" name="Notes Placeholder 2"/>
          <p:cNvSpPr>
            <a:spLocks noGrp="1"/>
          </p:cNvSpPr>
          <p:nvPr>
            <p:ph type="body" sz="quarter" idx="3"/>
          </p:nvPr>
        </p:nvSpPr>
        <p:spPr/>
        <p:txBody>
          <a:bodyPr/>
          <a:lstStyle/>
          <a:p>
            <a:pPr/>
            <a:r>
              <a:rPr/>
              <a:t>REVIEW: This is the strongest slide in the deck. The "three organizations" framing is the key insight. However, a reviewer may argue: "WAL is not really organizing - it is just appending." Counter: WAL does impose a sequential order (by time), which IS a form of organization. But be prepared to defend this framing. Alternative: say "three data movements" instead of "three organizations" if the WAL point is challenged.</a:t>
            </a:r>
            <a:endParaRPr/>
          </a:p>
        </p:txBody>
      </p:sp>
      <p:sp>
        <p:nvSpPr>
          <p:cNvPr id="44" name="Slide Number Placeholder 3"/>
          <p:cNvSpPr>
            <a:spLocks noGrp="1"/>
          </p:cNvSpPr>
          <p:nvPr>
            <p:ph type="sldNum" sz="quarter" idx="5"/>
          </p:nvPr>
        </p:nvSpPr>
        <p:spPr/>
        <p:txBody>
          <a:bodyPr/>
          <a:p/>
        </p:txBody>
      </p:sp>
    </p:spTree>
  </p:cSld>
  <p:clrMapOvr>
    <a:masterClrMapping/>
  </p:clrMapOvr>
</p:notes>
</file>

<file path=ppt/notesSlides/notesSlide12.xml><?xml version="1.0" encoding="utf-8"?>
<p:notes xmlns:p="http://schemas.openxmlformats.org/presentationml/2006/main" xmlns:a="http://schemas.openxmlformats.org/drawingml/2006/main">
  <p:cSld>
    <p:spTree>
      <p:nvGrpSpPr>
        <p:cNvPr id="45" name=""/>
        <p:cNvGrpSpPr/>
        <p:nvPr/>
      </p:nvGrpSpPr>
      <p:grpSpPr>
        <a:xfrm>
          <a:off x="0" y="0"/>
          <a:ext cx="0" cy="0"/>
          <a:chOff x="0" y="0"/>
          <a:chExt cx="0" cy="0"/>
        </a:xfrm>
      </p:grpSpPr>
      <p:sp>
        <p:nvSpPr>
          <p:cNvPr id="46" name="Slide Image Placeholder 1"/>
          <p:cNvSpPr>
            <a:spLocks noGrp="1" noRot="1" noChangeAspect="1"/>
          </p:cNvSpPr>
          <p:nvPr>
            <p:ph type="sldImg" idx="2"/>
          </p:nvPr>
        </p:nvSpPr>
        <p:spPr/>
        <p:txBody>
          <a:bodyPr/>
          <a:p/>
        </p:txBody>
      </p:sp>
      <p:sp>
        <p:nvSpPr>
          <p:cNvPr id="47" name="Notes Placeholder 2"/>
          <p:cNvSpPr>
            <a:spLocks noGrp="1"/>
          </p:cNvSpPr>
          <p:nvPr>
            <p:ph type="body" sz="quarter" idx="3"/>
          </p:nvPr>
        </p:nvSpPr>
        <p:spPr/>
        <p:txBody>
          <a:bodyPr/>
          <a:lstStyle/>
          <a:p>
            <a:pPr/>
            <a:r>
              <a:rPr lang="en-US"/>
              <a:t>REVIEW (updated 08-03): Restructured from the generic "No Existing Work Addresses Both" template to an assumption-challenge framing with three observations.
Slide logic chain: (1) Observation 1 = L0 overlap is decided at write admission (MemTable fills by time), not at compaction time - no prior work intervenes at admission. This is the most mechanism-specific claim. (2) Observation 2 = the flush stage survives on an obsolete hardware premise (ordering/encoding only in host DRAM); device compute breaks the premise but no design re-derives the write path from it. (3) Observation 3 = offloading accelerates work but cannot eliminate it - structural benefit upper bound.
Defensive notes: Obs 2 requires evidence that the "host-only ordering" assumption is actually obsolete - the four ZeroFlush mechanisms (WAL partitioning, WAL=L0, partition index, CSD compaction) are the constructive proof. Obs 3 anticipates the reviewer challenge "elimination is just an extension of offloading" - the answer is the NAND write-count difference: offload keeps 3 NAND touches, eliminate achieves 2. Keep the closing line as the positioning anchor: accelerate vs eliminate = problem-definition difference, not combination.
Related-work coverage intentionally compressed to one framing line ("prior work optimizes WITHIN the inherited path") rather than per-system bullet lists; the detailed per-system comparison belongs in the Related Work slide if added, or the paper body. If reviewers want named systems (WiscKey/Titan/BlobDB/FPGA-Compaction/AegonKV/PinK), answer verbally from this list rather than cluttering the slide.</a:t>
            </a:r>
            <a:endParaRPr/>
          </a:p>
        </p:txBody>
      </p:sp>
      <p:sp>
        <p:nvSpPr>
          <p:cNvPr id="48" name="Slide Number Placeholder 3"/>
          <p:cNvSpPr>
            <a:spLocks noGrp="1"/>
          </p:cNvSpPr>
          <p:nvPr>
            <p:ph type="sldNum" sz="quarter" idx="5"/>
          </p:nvPr>
        </p:nvSpPr>
        <p:spPr/>
        <p:txBody>
          <a:bodyPr/>
          <a:p/>
        </p:txBody>
      </p:sp>
    </p:spTree>
  </p:cSld>
  <p:clrMapOvr>
    <a:masterClrMapping/>
  </p:clrMapOvr>
</p:notes>
</file>

<file path=ppt/notesSlides/notesSlide13.xml><?xml version="1.0" encoding="utf-8"?>
<p:notes xmlns:p="http://schemas.openxmlformats.org/presentationml/2006/main" xmlns:a="http://schemas.openxmlformats.org/drawingml/2006/main">
  <p:cSld>
    <p:spTree>
      <p:nvGrpSpPr>
        <p:cNvPr id="49" name=""/>
        <p:cNvGrpSpPr/>
        <p:nvPr/>
      </p:nvGrpSpPr>
      <p:grpSpPr>
        <a:xfrm>
          <a:off x="0" y="0"/>
          <a:ext cx="0" cy="0"/>
          <a:chOff x="0" y="0"/>
          <a:chExt cx="0" cy="0"/>
        </a:xfrm>
      </p:grpSpPr>
      <p:sp>
        <p:nvSpPr>
          <p:cNvPr id="50" name="Slide Image Placeholder 1"/>
          <p:cNvSpPr>
            <a:spLocks noGrp="1" noRot="1" noChangeAspect="1"/>
          </p:cNvSpPr>
          <p:nvPr>
            <p:ph type="sldImg" idx="2"/>
          </p:nvPr>
        </p:nvSpPr>
        <p:spPr/>
        <p:txBody>
          <a:bodyPr/>
          <a:p/>
        </p:txBody>
      </p:sp>
      <p:sp>
        <p:nvSpPr>
          <p:cNvPr id="51" name="Notes Placeholder 2"/>
          <p:cNvSpPr>
            <a:spLocks noGrp="1"/>
          </p:cNvSpPr>
          <p:nvPr>
            <p:ph type="body" sz="quarter" idx="3"/>
          </p:nvPr>
        </p:nvSpPr>
        <p:spPr/>
        <p:txBody>
          <a:bodyPr/>
          <a:lstStyle/>
          <a:p>
            <a:pPr/>
            <a:r>
              <a:rPr/>
              <a:t>REVIEW: This is the "philosophy slide" - keep it conceptual, no implementation details. The reviewer should leave this slide thinking "OK, this is a different way of thinking about LSM, not just an engineering tweak." Risk: some reviewers dislike philosophy slides as "hand-waving." Mitigate by making the next slides very concrete.</a:t>
            </a:r>
            <a:endParaRPr/>
          </a:p>
        </p:txBody>
      </p:sp>
      <p:sp>
        <p:nvSpPr>
          <p:cNvPr id="52" name="Slide Number Placeholder 3"/>
          <p:cNvSpPr>
            <a:spLocks noGrp="1"/>
          </p:cNvSpPr>
          <p:nvPr>
            <p:ph type="sldNum" sz="quarter" idx="5"/>
          </p:nvPr>
        </p:nvSpPr>
        <p:spPr/>
        <p:txBody>
          <a:bodyPr/>
          <a:p/>
        </p:txBody>
      </p:sp>
    </p:spTree>
  </p:cSld>
  <p:clrMapOvr>
    <a:masterClrMapping/>
  </p:clrMapOvr>
</p:notes>
</file>

<file path=ppt/notesSlides/notesSlide14.xml><?xml version="1.0" encoding="utf-8"?>
<p:notes xmlns:p="http://schemas.openxmlformats.org/presentationml/2006/main" xmlns:a="http://schemas.openxmlformats.org/drawingml/2006/main">
  <p:cSld>
    <p:spTree>
      <p:nvGrpSpPr>
        <p:cNvPr id="53" name=""/>
        <p:cNvGrpSpPr/>
        <p:nvPr/>
      </p:nvGrpSpPr>
      <p:grpSpPr>
        <a:xfrm>
          <a:off x="0" y="0"/>
          <a:ext cx="0" cy="0"/>
          <a:chOff x="0" y="0"/>
          <a:chExt cx="0" cy="0"/>
        </a:xfrm>
      </p:grpSpPr>
      <p:sp>
        <p:nvSpPr>
          <p:cNvPr id="54" name="Slide Image Placeholder 1"/>
          <p:cNvSpPr>
            <a:spLocks noGrp="1" noRot="1" noChangeAspect="1"/>
          </p:cNvSpPr>
          <p:nvPr>
            <p:ph type="sldImg" idx="2"/>
          </p:nvPr>
        </p:nvSpPr>
        <p:spPr/>
        <p:txBody>
          <a:bodyPr/>
          <a:p/>
        </p:txBody>
      </p:sp>
      <p:sp>
        <p:nvSpPr>
          <p:cNvPr id="55" name="Notes Placeholder 2"/>
          <p:cNvSpPr>
            <a:spLocks noGrp="1"/>
          </p:cNvSpPr>
          <p:nvPr>
            <p:ph type="body" sz="quarter" idx="3"/>
          </p:nvPr>
        </p:nvSpPr>
        <p:spPr/>
        <p:txBody>
          <a:bodyPr/>
          <a:lstStyle/>
          <a:p>
            <a:pPr/>
            <a:r>
              <a:rPr/>
              <a:t>REVIEW: Mirror AegonKV slide 7 structure (3 challenges -&gt; 3 answers). The "ordering gap" is the hardest challenge - this is where the partition index innovation lives. Make sure the answer preview at the bottom is visible but not dominant.</a:t>
            </a:r>
            <a:endParaRPr/>
          </a:p>
        </p:txBody>
      </p:sp>
      <p:sp>
        <p:nvSpPr>
          <p:cNvPr id="56" name="Slide Number Placeholder 3"/>
          <p:cNvSpPr>
            <a:spLocks noGrp="1"/>
          </p:cNvSpPr>
          <p:nvPr>
            <p:ph type="sldNum" sz="quarter" idx="5"/>
          </p:nvPr>
        </p:nvSpPr>
        <p:spPr/>
        <p:txBody>
          <a:bodyPr/>
          <a:p/>
        </p:txBody>
      </p:sp>
    </p:spTree>
  </p:cSld>
  <p:clrMapOvr>
    <a:masterClrMapping/>
  </p:clrMapOvr>
</p:notes>
</file>

<file path=ppt/notesSlides/notesSlide15.xml><?xml version="1.0" encoding="utf-8"?>
<p:notes xmlns:p="http://schemas.openxmlformats.org/presentationml/2006/main" xmlns:a="http://schemas.openxmlformats.org/drawingml/2006/main">
  <p:cSld>
    <p:spTree>
      <p:nvGrpSpPr>
        <p:cNvPr id="57" name=""/>
        <p:cNvGrpSpPr/>
        <p:nvPr/>
      </p:nvGrpSpPr>
      <p:grpSpPr>
        <a:xfrm>
          <a:off x="0" y="0"/>
          <a:ext cx="0" cy="0"/>
          <a:chOff x="0" y="0"/>
          <a:chExt cx="0" cy="0"/>
        </a:xfrm>
      </p:grpSpPr>
      <p:sp>
        <p:nvSpPr>
          <p:cNvPr id="58" name="Slide Image Placeholder 1"/>
          <p:cNvSpPr>
            <a:spLocks noGrp="1" noRot="1" noChangeAspect="1"/>
          </p:cNvSpPr>
          <p:nvPr>
            <p:ph type="sldImg" idx="2"/>
          </p:nvPr>
        </p:nvSpPr>
        <p:spPr/>
        <p:txBody>
          <a:bodyPr/>
          <a:p/>
        </p:txBody>
      </p:sp>
      <p:sp>
        <p:nvSpPr>
          <p:cNvPr id="59" name="Notes Placeholder 2"/>
          <p:cNvSpPr>
            <a:spLocks noGrp="1"/>
          </p:cNvSpPr>
          <p:nvPr>
            <p:ph type="body" sz="quarter" idx="3"/>
          </p:nvPr>
        </p:nvSpPr>
        <p:spPr/>
        <p:txBody>
          <a:bodyPr/>
          <a:lstStyle/>
          <a:p>
            <a:pPr/>
            <a:r>
              <a:rPr/>
              <a:t>REVIEW: Need a system architecture figure here (Fig. 4 equivalent). Draw Host (WAL partitions + Partition Index + Write Cache) and SmartSSD (CSD Compaction Engine with P2P path). Without a figure this slide is too text-heavy. TODO: create figure.</a:t>
            </a:r>
            <a:endParaRPr/>
          </a:p>
        </p:txBody>
      </p:sp>
      <p:sp>
        <p:nvSpPr>
          <p:cNvPr id="60" name="Slide Number Placeholder 3"/>
          <p:cNvSpPr>
            <a:spLocks noGrp="1"/>
          </p:cNvSpPr>
          <p:nvPr>
            <p:ph type="sldNum" sz="quarter" idx="5"/>
          </p:nvPr>
        </p:nvSpPr>
        <p:spPr/>
        <p:txBody>
          <a:bodyP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a:r>
              <a:rPr lang="en-US"/>
              <a:t>Click to edit Master title style</a:t>
            </a:r>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r>
              <a:rPr lang="en-US"/>
              <a:t>Click to edit Master subtitle style</a:t>
            </a:r>
            <a:endParaRPr/>
          </a:p>
        </p:txBody>
      </p:sp>
      <p:sp>
        <p:nvSpPr>
          <p:cNvPr id="4" name="Date Placeholder 3"/>
          <p:cNvSpPr>
            <a:spLocks noGrp="1"/>
          </p:cNvSpPr>
          <p:nvPr>
            <p:ph type="dt" sz="half" idx="10"/>
          </p:nvPr>
        </p:nvSpPr>
        <p:spPr/>
        <p:txBody>
          <a:bodyPr/>
          <a:lstStyle/>
          <a:p>
            <a:pPr/>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pPr/>
            <a:endParaRPr lang="en-US"/>
          </a:p>
        </p:txBody>
      </p:sp>
      <p:sp>
        <p:nvSpPr>
          <p:cNvPr id="6" name="Slide Number Placeholder 5"/>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2.xml><?xml version="1.0" encoding="utf-8"?>
<p:sldLayout xmlns:p="http://schemas.openxmlformats.org/presentationml/2006/main" xmlns:a="http://schemas.openxmlformats.org/drawingml/2006/main" type="obj">
  <p:cSld name="Title and Content">
    <p:spTree>
      <p:nvGrpSpPr>
        <p:cNvPr id="7" name=""/>
        <p:cNvGrpSpPr/>
        <p:nvPr/>
      </p:nvGrpSpPr>
      <p:grpSpPr>
        <a:xfrm>
          <a:off x="0" y="0"/>
          <a:ext cx="0" cy="0"/>
          <a:chOff x="0" y="0"/>
          <a:chExt cx="0" cy="0"/>
        </a:xfrm>
      </p:grpSpPr>
      <p:sp>
        <p:nvSpPr>
          <p:cNvPr id="8" name="Title 1"/>
          <p:cNvSpPr>
            <a:spLocks noGrp="1"/>
          </p:cNvSpPr>
          <p:nvPr>
            <p:ph type="title"/>
          </p:nvPr>
        </p:nvSpPr>
        <p:spPr/>
        <p:txBody>
          <a:bodyPr/>
          <a:lstStyle/>
          <a:p>
            <a:pPr/>
            <a:r>
              <a:rPr lang="en-US"/>
              <a:t>Click to edit Master title style</a:t>
            </a:r>
            <a:endParaRPr/>
          </a:p>
        </p:txBody>
      </p:sp>
      <p:sp>
        <p:nvSpPr>
          <p:cNvPr id="9" name="Content Placeholder 2"/>
          <p:cNvSpPr>
            <a:spLocks noGrp="1"/>
          </p:cNvSpPr>
          <p:nvPr>
            <p:ph idx="1"/>
          </p:nvPr>
        </p:nvSpPr>
        <p:spPr/>
        <p:txBody>
          <a:bodyPr/>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10" name="Date Placeholder 3"/>
          <p:cNvSpPr>
            <a:spLocks noGrp="1"/>
          </p:cNvSpPr>
          <p:nvPr>
            <p:ph type="dt" sz="half" idx="10"/>
          </p:nvPr>
        </p:nvSpPr>
        <p:spPr/>
        <p:txBody>
          <a:bodyPr/>
          <a:lstStyle/>
          <a:p>
            <a:pPr/>
            <a:fld id="{5BCAD085-E8A6-8845-BD4E-CB4CCA059FC4}" type="datetimeFigureOut">
              <a:rPr lang="en-US" smtClean="0"/>
              <a:t>8/3/2026</a:t>
            </a:fld>
            <a:endParaRPr lang="en-US"/>
          </a:p>
        </p:txBody>
      </p:sp>
      <p:sp>
        <p:nvSpPr>
          <p:cNvPr id="11" name="Footer Placeholder 4"/>
          <p:cNvSpPr>
            <a:spLocks noGrp="1"/>
          </p:cNvSpPr>
          <p:nvPr>
            <p:ph type="ftr" sz="quarter" idx="11"/>
          </p:nvPr>
        </p:nvSpPr>
        <p:spPr/>
        <p:txBody>
          <a:bodyPr/>
          <a:lstStyle/>
          <a:p>
            <a:pPr/>
            <a:endParaRPr lang="en-US"/>
          </a:p>
        </p:txBody>
      </p:sp>
      <p:sp>
        <p:nvSpPr>
          <p:cNvPr id="12" name="Slide Number Placeholder 5"/>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3.xml><?xml version="1.0" encoding="utf-8"?>
<p:sldLayout xmlns:p="http://schemas.openxmlformats.org/presentationml/2006/main" xmlns:a="http://schemas.openxmlformats.org/drawingml/2006/main" type="secHead">
  <p:cSld name="Section Header">
    <p:spTree>
      <p:nvGrpSpPr>
        <p:cNvPr id="19" name=""/>
        <p:cNvGrpSpPr/>
        <p:nvPr/>
      </p:nvGrpSpPr>
      <p:grpSpPr>
        <a:xfrm>
          <a:off x="0" y="0"/>
          <a:ext cx="0" cy="0"/>
          <a:chOff x="0" y="0"/>
          <a:chExt cx="0" cy="0"/>
        </a:xfrm>
      </p:grpSpPr>
      <p:sp>
        <p:nvSpPr>
          <p:cNvPr id="20" name="Title 1"/>
          <p:cNvSpPr>
            <a:spLocks noGrp="1"/>
          </p:cNvSpPr>
          <p:nvPr>
            <p:ph type="title"/>
          </p:nvPr>
        </p:nvSpPr>
        <p:spPr>
          <a:xfrm>
            <a:off x="722313" y="4406900"/>
            <a:ext cx="7772400" cy="1362075"/>
          </a:xfrm>
        </p:spPr>
        <p:txBody>
          <a:bodyPr anchor="t"/>
          <a:lstStyle>
            <a:lvl1pPr algn="l">
              <a:defRPr sz="4000" b="1" cap="all"/>
            </a:lvl1pPr>
          </a:lstStyle>
          <a:p>
            <a:pPr/>
            <a:r>
              <a:rPr lang="en-US"/>
              <a:t>Click to edit Master title style</a:t>
            </a:r>
            <a:endParaRPr/>
          </a:p>
        </p:txBody>
      </p:sp>
      <p:sp>
        <p:nvSpPr>
          <p:cNvPr id="21"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a:p>
        </p:txBody>
      </p:sp>
      <p:sp>
        <p:nvSpPr>
          <p:cNvPr id="22" name="Date Placeholder 3"/>
          <p:cNvSpPr>
            <a:spLocks noGrp="1"/>
          </p:cNvSpPr>
          <p:nvPr>
            <p:ph type="dt" sz="half" idx="10"/>
          </p:nvPr>
        </p:nvSpPr>
        <p:spPr/>
        <p:txBody>
          <a:bodyPr/>
          <a:lstStyle/>
          <a:p>
            <a:pPr/>
            <a:fld id="{5BCAD085-E8A6-8845-BD4E-CB4CCA059FC4}" type="datetimeFigureOut">
              <a:rPr lang="en-US" smtClean="0"/>
              <a:t>8/3/2026</a:t>
            </a:fld>
            <a:endParaRPr lang="en-US"/>
          </a:p>
        </p:txBody>
      </p:sp>
      <p:sp>
        <p:nvSpPr>
          <p:cNvPr id="23" name="Footer Placeholder 4"/>
          <p:cNvSpPr>
            <a:spLocks noGrp="1"/>
          </p:cNvSpPr>
          <p:nvPr>
            <p:ph type="ftr" sz="quarter" idx="11"/>
          </p:nvPr>
        </p:nvSpPr>
        <p:spPr/>
        <p:txBody>
          <a:bodyPr/>
          <a:lstStyle/>
          <a:p>
            <a:pPr/>
            <a:endParaRPr lang="en-US"/>
          </a:p>
        </p:txBody>
      </p:sp>
      <p:sp>
        <p:nvSpPr>
          <p:cNvPr id="24" name="Slide Number Placeholder 5"/>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4.xml><?xml version="1.0" encoding="utf-8"?>
<p:sldLayout xmlns:p="http://schemas.openxmlformats.org/presentationml/2006/main" xmlns:a="http://schemas.openxmlformats.org/drawingml/2006/main" type="twoObj">
  <p:cSld name="Two Content">
    <p:spTree>
      <p:nvGrpSpPr>
        <p:cNvPr id="25" name=""/>
        <p:cNvGrpSpPr/>
        <p:nvPr/>
      </p:nvGrpSpPr>
      <p:grpSpPr>
        <a:xfrm>
          <a:off x="0" y="0"/>
          <a:ext cx="0" cy="0"/>
          <a:chOff x="0" y="0"/>
          <a:chExt cx="0" cy="0"/>
        </a:xfrm>
      </p:grpSpPr>
      <p:sp>
        <p:nvSpPr>
          <p:cNvPr id="26" name="Title 1"/>
          <p:cNvSpPr>
            <a:spLocks noGrp="1"/>
          </p:cNvSpPr>
          <p:nvPr>
            <p:ph type="title"/>
          </p:nvPr>
        </p:nvSpPr>
        <p:spPr/>
        <p:txBody>
          <a:bodyPr/>
          <a:lstStyle/>
          <a:p>
            <a:pPr/>
            <a:r>
              <a:rPr lang="en-US"/>
              <a:t>Click to edit Master title style</a:t>
            </a:r>
            <a:endParaRPr/>
          </a:p>
        </p:txBody>
      </p:sp>
      <p:sp>
        <p:nvSpPr>
          <p:cNvPr id="2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28"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29" name="Date Placeholder 4"/>
          <p:cNvSpPr>
            <a:spLocks noGrp="1"/>
          </p:cNvSpPr>
          <p:nvPr>
            <p:ph type="dt" sz="half" idx="10"/>
          </p:nvPr>
        </p:nvSpPr>
        <p:spPr/>
        <p:txBody>
          <a:bodyPr/>
          <a:lstStyle/>
          <a:p>
            <a:pPr/>
            <a:fld id="{5BCAD085-E8A6-8845-BD4E-CB4CCA059FC4}" type="datetimeFigureOut">
              <a:rPr lang="en-US" smtClean="0"/>
              <a:t>8/3/2026</a:t>
            </a:fld>
            <a:endParaRPr lang="en-US"/>
          </a:p>
        </p:txBody>
      </p:sp>
      <p:sp>
        <p:nvSpPr>
          <p:cNvPr id="30" name="Footer Placeholder 5"/>
          <p:cNvSpPr>
            <a:spLocks noGrp="1"/>
          </p:cNvSpPr>
          <p:nvPr>
            <p:ph type="ftr" sz="quarter" idx="11"/>
          </p:nvPr>
        </p:nvSpPr>
        <p:spPr/>
        <p:txBody>
          <a:bodyPr/>
          <a:lstStyle/>
          <a:p>
            <a:pPr/>
            <a:endParaRPr lang="en-US"/>
          </a:p>
        </p:txBody>
      </p:sp>
      <p:sp>
        <p:nvSpPr>
          <p:cNvPr id="31" name="Slide Number Placeholder 6"/>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5.xml><?xml version="1.0" encoding="utf-8"?>
<p:sldLayout xmlns:p="http://schemas.openxmlformats.org/presentationml/2006/main" xmlns:a="http://schemas.openxmlformats.org/drawingml/2006/main" type="twoTxTwoObj">
  <p:cSld name="Comparison">
    <p:spTree>
      <p:nvGrpSpPr>
        <p:cNvPr id="32" name=""/>
        <p:cNvGrpSpPr/>
        <p:nvPr/>
      </p:nvGrpSpPr>
      <p:grpSpPr>
        <a:xfrm>
          <a:off x="0" y="0"/>
          <a:ext cx="0" cy="0"/>
          <a:chOff x="0" y="0"/>
          <a:chExt cx="0" cy="0"/>
        </a:xfrm>
      </p:grpSpPr>
      <p:sp>
        <p:nvSpPr>
          <p:cNvPr id="33" name="Title 1"/>
          <p:cNvSpPr>
            <a:spLocks noGrp="1"/>
          </p:cNvSpPr>
          <p:nvPr>
            <p:ph type="title"/>
          </p:nvPr>
        </p:nvSpPr>
        <p:spPr/>
        <p:txBody>
          <a:bodyPr/>
          <a:lstStyle>
            <a:lvl1pPr>
              <a:defRPr/>
            </a:lvl1pPr>
          </a:lstStyle>
          <a:p>
            <a:pPr/>
            <a:r>
              <a:rPr lang="en-US"/>
              <a:t>Click to edit Master title style</a:t>
            </a:r>
            <a:endParaRPr/>
          </a:p>
        </p:txBody>
      </p:sp>
      <p:sp>
        <p:nvSpPr>
          <p:cNvPr id="34"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a:p>
        </p:txBody>
      </p:sp>
      <p:sp>
        <p:nvSpPr>
          <p:cNvPr id="3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36"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a:p>
        </p:txBody>
      </p:sp>
      <p:sp>
        <p:nvSpPr>
          <p:cNvPr id="3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38" name="Date Placeholder 6"/>
          <p:cNvSpPr>
            <a:spLocks noGrp="1"/>
          </p:cNvSpPr>
          <p:nvPr>
            <p:ph type="dt" sz="half" idx="10"/>
          </p:nvPr>
        </p:nvSpPr>
        <p:spPr/>
        <p:txBody>
          <a:bodyPr/>
          <a:lstStyle/>
          <a:p>
            <a:pPr/>
            <a:fld id="{5BCAD085-E8A6-8845-BD4E-CB4CCA059FC4}" type="datetimeFigureOut">
              <a:rPr lang="en-US" smtClean="0"/>
              <a:t>8/3/2026</a:t>
            </a:fld>
            <a:endParaRPr lang="en-US"/>
          </a:p>
        </p:txBody>
      </p:sp>
      <p:sp>
        <p:nvSpPr>
          <p:cNvPr id="39" name="Footer Placeholder 7"/>
          <p:cNvSpPr>
            <a:spLocks noGrp="1"/>
          </p:cNvSpPr>
          <p:nvPr>
            <p:ph type="ftr" sz="quarter" idx="11"/>
          </p:nvPr>
        </p:nvSpPr>
        <p:spPr/>
        <p:txBody>
          <a:bodyPr/>
          <a:lstStyle/>
          <a:p>
            <a:pPr/>
            <a:endParaRPr lang="en-US"/>
          </a:p>
        </p:txBody>
      </p:sp>
      <p:sp>
        <p:nvSpPr>
          <p:cNvPr id="40" name="Slide Number Placeholder 8"/>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6.xml><?xml version="1.0" encoding="utf-8"?>
<p:sldLayout xmlns:p="http://schemas.openxmlformats.org/presentationml/2006/main" xmlns:a="http://schemas.openxmlformats.org/drawingml/2006/main" type="titleOnly">
  <p:cSld name="Title Only">
    <p:spTree>
      <p:nvGrpSpPr>
        <p:cNvPr id="41" name=""/>
        <p:cNvGrpSpPr/>
        <p:nvPr/>
      </p:nvGrpSpPr>
      <p:grpSpPr>
        <a:xfrm>
          <a:off x="0" y="0"/>
          <a:ext cx="0" cy="0"/>
          <a:chOff x="0" y="0"/>
          <a:chExt cx="0" cy="0"/>
        </a:xfrm>
      </p:grpSpPr>
      <p:sp>
        <p:nvSpPr>
          <p:cNvPr id="42" name="Title 1"/>
          <p:cNvSpPr>
            <a:spLocks noGrp="1"/>
          </p:cNvSpPr>
          <p:nvPr>
            <p:ph type="title"/>
          </p:nvPr>
        </p:nvSpPr>
        <p:spPr/>
        <p:txBody>
          <a:bodyPr/>
          <a:lstStyle/>
          <a:p>
            <a:pPr/>
            <a:r>
              <a:rPr lang="en-US"/>
              <a:t>Click to edit Master title style</a:t>
            </a:r>
            <a:endParaRPr/>
          </a:p>
        </p:txBody>
      </p:sp>
      <p:sp>
        <p:nvSpPr>
          <p:cNvPr id="43" name="Date Placeholder 2"/>
          <p:cNvSpPr>
            <a:spLocks noGrp="1"/>
          </p:cNvSpPr>
          <p:nvPr>
            <p:ph type="dt" sz="half" idx="10"/>
          </p:nvPr>
        </p:nvSpPr>
        <p:spPr/>
        <p:txBody>
          <a:bodyPr/>
          <a:lstStyle/>
          <a:p>
            <a:pPr/>
            <a:fld id="{5BCAD085-E8A6-8845-BD4E-CB4CCA059FC4}" type="datetimeFigureOut">
              <a:rPr lang="en-US" smtClean="0"/>
              <a:t>8/3/2026</a:t>
            </a:fld>
            <a:endParaRPr lang="en-US"/>
          </a:p>
        </p:txBody>
      </p:sp>
      <p:sp>
        <p:nvSpPr>
          <p:cNvPr id="44" name="Footer Placeholder 3"/>
          <p:cNvSpPr>
            <a:spLocks noGrp="1"/>
          </p:cNvSpPr>
          <p:nvPr>
            <p:ph type="ftr" sz="quarter" idx="11"/>
          </p:nvPr>
        </p:nvSpPr>
        <p:spPr/>
        <p:txBody>
          <a:bodyPr/>
          <a:lstStyle/>
          <a:p>
            <a:pPr/>
            <a:endParaRPr lang="en-US"/>
          </a:p>
        </p:txBody>
      </p:sp>
      <p:sp>
        <p:nvSpPr>
          <p:cNvPr id="45" name="Slide Number Placeholder 4"/>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7.xml><?xml version="1.0" encoding="utf-8"?>
<p:sldLayout xmlns:p="http://schemas.openxmlformats.org/presentationml/2006/main" xmlns:a="http://schemas.openxmlformats.org/drawingml/2006/main" type="blank">
  <p:cSld name="Blank">
    <p:spTree>
      <p:nvGrpSpPr>
        <p:cNvPr id="46" name=""/>
        <p:cNvGrpSpPr/>
        <p:nvPr/>
      </p:nvGrpSpPr>
      <p:grpSpPr>
        <a:xfrm>
          <a:off x="0" y="0"/>
          <a:ext cx="0" cy="0"/>
          <a:chOff x="0" y="0"/>
          <a:chExt cx="0" cy="0"/>
        </a:xfrm>
      </p:grpSpPr>
      <p:sp>
        <p:nvSpPr>
          <p:cNvPr id="47" name="Date Placeholder 1"/>
          <p:cNvSpPr>
            <a:spLocks noGrp="1"/>
          </p:cNvSpPr>
          <p:nvPr>
            <p:ph type="dt" sz="half" idx="10"/>
          </p:nvPr>
        </p:nvSpPr>
        <p:spPr/>
        <p:txBody>
          <a:bodyPr/>
          <a:lstStyle/>
          <a:p>
            <a:pPr/>
            <a:fld id="{5BCAD085-E8A6-8845-BD4E-CB4CCA059FC4}" type="datetimeFigureOut">
              <a:rPr lang="en-US" smtClean="0"/>
              <a:t>8/3/2026</a:t>
            </a:fld>
            <a:endParaRPr lang="en-US"/>
          </a:p>
        </p:txBody>
      </p:sp>
      <p:sp>
        <p:nvSpPr>
          <p:cNvPr id="48" name="Footer Placeholder 2"/>
          <p:cNvSpPr>
            <a:spLocks noGrp="1"/>
          </p:cNvSpPr>
          <p:nvPr>
            <p:ph type="ftr" sz="quarter" idx="11"/>
          </p:nvPr>
        </p:nvSpPr>
        <p:spPr/>
        <p:txBody>
          <a:bodyPr/>
          <a:lstStyle/>
          <a:p>
            <a:pPr/>
            <a:endParaRPr lang="en-US"/>
          </a:p>
        </p:txBody>
      </p:sp>
      <p:sp>
        <p:nvSpPr>
          <p:cNvPr id="49" name="Slide Number Placeholder 3"/>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8.xml><?xml version="1.0" encoding="utf-8"?>
<p:sldLayout xmlns:p="http://schemas.openxmlformats.org/presentationml/2006/main" xmlns:a="http://schemas.openxmlformats.org/drawingml/2006/main" type="objTx">
  <p:cSld name="Content with Caption">
    <p:spTree>
      <p:nvGrpSpPr>
        <p:cNvPr id="50" name=""/>
        <p:cNvGrpSpPr/>
        <p:nvPr/>
      </p:nvGrpSpPr>
      <p:grpSpPr>
        <a:xfrm>
          <a:off x="0" y="0"/>
          <a:ext cx="0" cy="0"/>
          <a:chOff x="0" y="0"/>
          <a:chExt cx="0" cy="0"/>
        </a:xfrm>
      </p:grpSpPr>
      <p:sp>
        <p:nvSpPr>
          <p:cNvPr id="51" name="Title 1"/>
          <p:cNvSpPr>
            <a:spLocks noGrp="1"/>
          </p:cNvSpPr>
          <p:nvPr>
            <p:ph type="title"/>
          </p:nvPr>
        </p:nvSpPr>
        <p:spPr>
          <a:xfrm>
            <a:off x="457200" y="273050"/>
            <a:ext cx="3008313" cy="1162050"/>
          </a:xfrm>
        </p:spPr>
        <p:txBody>
          <a:bodyPr anchor="b"/>
          <a:lstStyle>
            <a:lvl1pPr algn="l">
              <a:defRPr sz="2000" b="1"/>
            </a:lvl1pPr>
          </a:lstStyle>
          <a:p>
            <a:pPr/>
            <a:r>
              <a:rPr lang="en-US"/>
              <a:t>Click to edit Master title style</a:t>
            </a:r>
            <a:endParaRPr/>
          </a:p>
        </p:txBody>
      </p:sp>
      <p:sp>
        <p:nvSpPr>
          <p:cNvPr id="5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5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a:p>
        </p:txBody>
      </p:sp>
      <p:sp>
        <p:nvSpPr>
          <p:cNvPr id="54" name="Date Placeholder 4"/>
          <p:cNvSpPr>
            <a:spLocks noGrp="1"/>
          </p:cNvSpPr>
          <p:nvPr>
            <p:ph type="dt" sz="half" idx="10"/>
          </p:nvPr>
        </p:nvSpPr>
        <p:spPr/>
        <p:txBody>
          <a:bodyPr/>
          <a:lstStyle/>
          <a:p>
            <a:pPr/>
            <a:fld id="{5BCAD085-E8A6-8845-BD4E-CB4CCA059FC4}" type="datetimeFigureOut">
              <a:rPr lang="en-US" smtClean="0"/>
              <a:t>8/3/2026</a:t>
            </a:fld>
            <a:endParaRPr lang="en-US"/>
          </a:p>
        </p:txBody>
      </p:sp>
      <p:sp>
        <p:nvSpPr>
          <p:cNvPr id="55" name="Footer Placeholder 5"/>
          <p:cNvSpPr>
            <a:spLocks noGrp="1"/>
          </p:cNvSpPr>
          <p:nvPr>
            <p:ph type="ftr" sz="quarter" idx="11"/>
          </p:nvPr>
        </p:nvSpPr>
        <p:spPr/>
        <p:txBody>
          <a:bodyPr/>
          <a:lstStyle/>
          <a:p>
            <a:pPr/>
            <a:endParaRPr lang="en-US"/>
          </a:p>
        </p:txBody>
      </p:sp>
      <p:sp>
        <p:nvSpPr>
          <p:cNvPr id="56" name="Slide Number Placeholder 6"/>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9.xml><?xml version="1.0" encoding="utf-8"?>
<p:sldLayout xmlns:p="http://schemas.openxmlformats.org/presentationml/2006/main" xmlns:a="http://schemas.openxmlformats.org/drawingml/2006/main" type="picTx">
  <p:cSld name="Picture with Caption">
    <p:spTree>
      <p:nvGrpSpPr>
        <p:cNvPr id="57" name=""/>
        <p:cNvGrpSpPr/>
        <p:nvPr/>
      </p:nvGrpSpPr>
      <p:grpSpPr>
        <a:xfrm>
          <a:off x="0" y="0"/>
          <a:ext cx="0" cy="0"/>
          <a:chOff x="0" y="0"/>
          <a:chExt cx="0" cy="0"/>
        </a:xfrm>
      </p:grpSpPr>
      <p:sp>
        <p:nvSpPr>
          <p:cNvPr id="58" name="Title 1"/>
          <p:cNvSpPr>
            <a:spLocks noGrp="1"/>
          </p:cNvSpPr>
          <p:nvPr>
            <p:ph type="title"/>
          </p:nvPr>
        </p:nvSpPr>
        <p:spPr>
          <a:xfrm>
            <a:off x="1792288" y="4800600"/>
            <a:ext cx="5486400" cy="566738"/>
          </a:xfrm>
        </p:spPr>
        <p:txBody>
          <a:bodyPr anchor="b"/>
          <a:lstStyle>
            <a:lvl1pPr algn="l">
              <a:defRPr sz="2000" b="1"/>
            </a:lvl1pPr>
          </a:lstStyle>
          <a:p>
            <a:pPr/>
            <a:r>
              <a:rPr lang="en-US"/>
              <a:t>Click to edit Master title style</a:t>
            </a:r>
            <a:endParaRPr/>
          </a:p>
        </p:txBody>
      </p:sp>
      <p:sp>
        <p:nvSpPr>
          <p:cNvPr id="5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endParaRPr lang="en-US"/>
          </a:p>
        </p:txBody>
      </p:sp>
      <p:sp>
        <p:nvSpPr>
          <p:cNvPr id="6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a:p>
        </p:txBody>
      </p:sp>
      <p:sp>
        <p:nvSpPr>
          <p:cNvPr id="61" name="Date Placeholder 4"/>
          <p:cNvSpPr>
            <a:spLocks noGrp="1"/>
          </p:cNvSpPr>
          <p:nvPr>
            <p:ph type="dt" sz="half" idx="10"/>
          </p:nvPr>
        </p:nvSpPr>
        <p:spPr/>
        <p:txBody>
          <a:bodyPr/>
          <a:lstStyle/>
          <a:p>
            <a:pPr/>
            <a:fld id="{5BCAD085-E8A6-8845-BD4E-CB4CCA059FC4}" type="datetimeFigureOut">
              <a:rPr lang="en-US" smtClean="0"/>
              <a:t>8/3/2026</a:t>
            </a:fld>
            <a:endParaRPr lang="en-US"/>
          </a:p>
        </p:txBody>
      </p:sp>
      <p:sp>
        <p:nvSpPr>
          <p:cNvPr id="62" name="Footer Placeholder 5"/>
          <p:cNvSpPr>
            <a:spLocks noGrp="1"/>
          </p:cNvSpPr>
          <p:nvPr>
            <p:ph type="ftr" sz="quarter" idx="11"/>
          </p:nvPr>
        </p:nvSpPr>
        <p:spPr/>
        <p:txBody>
          <a:bodyPr/>
          <a:lstStyle/>
          <a:p>
            <a:pPr/>
            <a:endParaRPr lang="en-US"/>
          </a:p>
        </p:txBody>
      </p:sp>
      <p:sp>
        <p:nvSpPr>
          <p:cNvPr id="63" name="Slide Number Placeholder 6"/>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10.xml><?xml version="1.0" encoding="utf-8"?>
<p:sldLayout xmlns:p="http://schemas.openxmlformats.org/presentationml/2006/main" xmlns:a="http://schemas.openxmlformats.org/drawingml/2006/main" type="vertTx">
  <p:cSld name="Title and Vertical Text">
    <p:spTree>
      <p:nvGrpSpPr>
        <p:cNvPr id="64" name=""/>
        <p:cNvGrpSpPr/>
        <p:nvPr/>
      </p:nvGrpSpPr>
      <p:grpSpPr>
        <a:xfrm>
          <a:off x="0" y="0"/>
          <a:ext cx="0" cy="0"/>
          <a:chOff x="0" y="0"/>
          <a:chExt cx="0" cy="0"/>
        </a:xfrm>
      </p:grpSpPr>
      <p:sp>
        <p:nvSpPr>
          <p:cNvPr id="65" name="Title 1"/>
          <p:cNvSpPr>
            <a:spLocks noGrp="1"/>
          </p:cNvSpPr>
          <p:nvPr>
            <p:ph type="title"/>
          </p:nvPr>
        </p:nvSpPr>
        <p:spPr/>
        <p:txBody>
          <a:bodyPr/>
          <a:lstStyle/>
          <a:p>
            <a:pPr/>
            <a:r>
              <a:rPr lang="en-US"/>
              <a:t>Click to edit Master title style</a:t>
            </a:r>
            <a:endParaRPr/>
          </a:p>
        </p:txBody>
      </p:sp>
      <p:sp>
        <p:nvSpPr>
          <p:cNvPr id="66" name="Vertical Text Placeholder 2"/>
          <p:cNvSpPr>
            <a:spLocks noGrp="1"/>
          </p:cNvSpPr>
          <p:nvPr>
            <p:ph type="body" orient="vert" idx="1"/>
          </p:nvPr>
        </p:nvSpPr>
        <p:spPr/>
        <p:txBody>
          <a:bodyPr vert="eaVert"/>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67" name="Date Placeholder 3"/>
          <p:cNvSpPr>
            <a:spLocks noGrp="1"/>
          </p:cNvSpPr>
          <p:nvPr>
            <p:ph type="dt" sz="half" idx="10"/>
          </p:nvPr>
        </p:nvSpPr>
        <p:spPr/>
        <p:txBody>
          <a:bodyPr/>
          <a:lstStyle/>
          <a:p>
            <a:pPr/>
            <a:fld id="{5BCAD085-E8A6-8845-BD4E-CB4CCA059FC4}" type="datetimeFigureOut">
              <a:rPr lang="en-US" smtClean="0"/>
              <a:t>8/3/2026</a:t>
            </a:fld>
            <a:endParaRPr lang="en-US"/>
          </a:p>
        </p:txBody>
      </p:sp>
      <p:sp>
        <p:nvSpPr>
          <p:cNvPr id="68" name="Footer Placeholder 4"/>
          <p:cNvSpPr>
            <a:spLocks noGrp="1"/>
          </p:cNvSpPr>
          <p:nvPr>
            <p:ph type="ftr" sz="quarter" idx="11"/>
          </p:nvPr>
        </p:nvSpPr>
        <p:spPr/>
        <p:txBody>
          <a:bodyPr/>
          <a:lstStyle/>
          <a:p>
            <a:pPr/>
            <a:endParaRPr lang="en-US"/>
          </a:p>
        </p:txBody>
      </p:sp>
      <p:sp>
        <p:nvSpPr>
          <p:cNvPr id="69" name="Slide Number Placeholder 5"/>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Layouts/slideLayout11.xml><?xml version="1.0" encoding="utf-8"?>
<p:sldLayout xmlns:p="http://schemas.openxmlformats.org/presentationml/2006/main" xmlns:a="http://schemas.openxmlformats.org/drawingml/2006/main" type="vertTitleAndTx">
  <p:cSld name="Vertical Title and Text">
    <p:spTree>
      <p:nvGrpSpPr>
        <p:cNvPr id="13" name=""/>
        <p:cNvGrpSpPr/>
        <p:nvPr/>
      </p:nvGrpSpPr>
      <p:grpSpPr>
        <a:xfrm>
          <a:off x="0" y="0"/>
          <a:ext cx="0" cy="0"/>
          <a:chOff x="0" y="0"/>
          <a:chExt cx="0" cy="0"/>
        </a:xfrm>
      </p:grpSpPr>
      <p:sp>
        <p:nvSpPr>
          <p:cNvPr id="14" name="Vertical Title 1"/>
          <p:cNvSpPr>
            <a:spLocks noGrp="1"/>
          </p:cNvSpPr>
          <p:nvPr>
            <p:ph type="title" orient="vert"/>
          </p:nvPr>
        </p:nvSpPr>
        <p:spPr>
          <a:xfrm>
            <a:off x="6629400" y="274638"/>
            <a:ext cx="2057400" cy="5851525"/>
          </a:xfrm>
        </p:spPr>
        <p:txBody>
          <a:bodyPr vert="eaVert"/>
          <a:lstStyle/>
          <a:p>
            <a:pPr/>
            <a:r>
              <a:rPr lang="en-US"/>
              <a:t>Click to edit Master title style</a:t>
            </a:r>
            <a:endParaRPr/>
          </a:p>
        </p:txBody>
      </p:sp>
      <p:sp>
        <p:nvSpPr>
          <p:cNvPr id="15"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16" name="Date Placeholder 3"/>
          <p:cNvSpPr>
            <a:spLocks noGrp="1"/>
          </p:cNvSpPr>
          <p:nvPr>
            <p:ph type="dt" sz="half" idx="10"/>
          </p:nvPr>
        </p:nvSpPr>
        <p:spPr/>
        <p:txBody>
          <a:bodyPr/>
          <a:lstStyle/>
          <a:p>
            <a:pPr/>
            <a:fld id="{5BCAD085-E8A6-8845-BD4E-CB4CCA059FC4}" type="datetimeFigureOut">
              <a:rPr lang="en-US" smtClean="0"/>
              <a:t>8/3/2026</a:t>
            </a:fld>
            <a:endParaRPr lang="en-US"/>
          </a:p>
        </p:txBody>
      </p:sp>
      <p:sp>
        <p:nvSpPr>
          <p:cNvPr id="17" name="Footer Placeholder 4"/>
          <p:cNvSpPr>
            <a:spLocks noGrp="1"/>
          </p:cNvSpPr>
          <p:nvPr>
            <p:ph type="ftr" sz="quarter" idx="11"/>
          </p:nvPr>
        </p:nvSpPr>
        <p:spPr/>
        <p:txBody>
          <a:bodyPr/>
          <a:lstStyle/>
          <a:p>
            <a:pPr/>
            <a:endParaRPr lang="en-US"/>
          </a:p>
        </p:txBody>
      </p:sp>
      <p:sp>
        <p:nvSpPr>
          <p:cNvPr id="18" name="Slide Number Placeholder 5"/>
          <p:cNvSpPr>
            <a:spLocks noGrp="1"/>
          </p:cNvSpPr>
          <p:nvPr>
            <p:ph type="sldNum" sz="quarter" idx="12"/>
          </p:nvPr>
        </p:nvSpPr>
        <p:spPr/>
        <p:txBody>
          <a:bodyPr/>
          <a:lstStyle/>
          <a:p>
            <a:pPr/>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slideLayout" Target="../slideLayouts/slideLayout2.xml" /><Relationship Id="rId4" Type="http://schemas.openxmlformats.org/officeDocument/2006/relationships/slideLayout" Target="../slideLayouts/slideLayout5.xml" /><Relationship Id="rId3" Type="http://schemas.openxmlformats.org/officeDocument/2006/relationships/slideLayout" Target="../slideLayouts/slideLayout4.xml" /><Relationship Id="rId10" Type="http://schemas.openxmlformats.org/officeDocument/2006/relationships/slideLayout" Target="../slideLayouts/slideLayout11.xml" /><Relationship Id="rId11" Type="http://schemas.openxmlformats.org/officeDocument/2006/relationships/theme" Target="../theme/theme1.xml" /><Relationship Id="rId7" Type="http://schemas.openxmlformats.org/officeDocument/2006/relationships/slideLayout" Target="../slideLayouts/slideLayout8.xml" /><Relationship Id="rId2" Type="http://schemas.openxmlformats.org/officeDocument/2006/relationships/slideLayout" Target="../slideLayouts/slideLayout3.xml" /><Relationship Id="rId5" Type="http://schemas.openxmlformats.org/officeDocument/2006/relationships/slideLayout" Target="../slideLayouts/slideLayout6.xml" /><Relationship Id="rId6" Type="http://schemas.openxmlformats.org/officeDocument/2006/relationships/slideLayout" Target="../slideLayouts/slideLayout7.xml" /><Relationship Id="rId8" Type="http://schemas.openxmlformats.org/officeDocument/2006/relationships/slideLayout" Target="../slideLayouts/slideLayout9.xml" /><Relationship Id="rId9" Type="http://schemas.openxmlformats.org/officeDocument/2006/relationships/slideLayout" Target="../slideLayouts/slideLayout10.xml" /></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pPr/>
            <a:r>
              <a:rPr lang="en-US"/>
              <a:t>Click to edit Master title style</a:t>
            </a:r>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ctr" defTabSz="4572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9.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0.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1.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2.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3.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4.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5.xml" /></Relationships>
</file>

<file path=ppt/slides/_rels/slide10.xml.rels><?xml version="1.0" encoding="UTF-8" standalone="yes"?><Relationships xmlns="http://schemas.openxmlformats.org/package/2006/relationships"><Relationship Id="rId1" Type="http://schemas.openxmlformats.org/officeDocument/2006/relationships/notesSlide" Target="../notesSlides/notesSlide2.xml" /><Relationship Id="rId0" Type="http://schemas.openxmlformats.org/officeDocument/2006/relationships/slideLayout" Target="../slideLayouts/slideLayout7.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3.xml"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4.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5.xml" /></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6.xml" /></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7.xml" /></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8.xml" /></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Box 1"/>
          <p:cNvSpPr txBox="1"/>
          <p:nvPr/>
        </p:nvSpPr>
        <p:spPr>
          <a:xfrm>
            <a:off x="1761880" y="1916133"/>
            <a:ext cx="8665064" cy="1015663"/>
          </a:xfrm>
          <a:prstGeom prst="rect">
            <a:avLst/>
          </a:prstGeom>
          <a:noFill/>
        </p:spPr>
        <p:txBody>
          <a:bodyPr wrap="none">
            <a:spAutoFit/>
          </a:bodyPr>
          <a:lstStyle/>
          <a:p>
            <a:pPr/>
            <a:r>
              <a:rPr sz="3000" b="1" dirty="0" err="1">
                <a:solidFill>
                  <a:srgbClr val="000000"/>
                </a:solidFill>
                <a:latin typeface="Arial"/>
              </a:rPr>
              <a:t>ZeroFlush</a:t>
            </a:r>
            <a:r>
              <a:rPr sz="3000" b="1" dirty="0">
                <a:solidFill>
                  <a:srgbClr val="000000"/>
                </a:solidFill>
                <a:latin typeface="Arial"/>
              </a:rPr>
              <a:t>: A CSD-Native LSM Store with</a:t>
            </a:r>
            <a:endParaRPr/>
          </a:p>
          <a:p>
            <a:pPr algn="ctr"/>
            <a:r>
              <a:rPr sz="3000" b="0" dirty="0">
                <a:solidFill>
                  <a:srgbClr val="000000"/>
                </a:solidFill>
                <a:latin typeface="Arial"/>
              </a:rPr>
              <a:t>In-Storage Write Path Organization</a:t>
            </a:r>
            <a:endParaRPr/>
          </a:p>
        </p:txBody>
      </p:sp>
      <p:cxnSp>
        <p:nvCxnSpPr>
          <p:cNvPr id="3" name="Connector 2"/>
          <p:cNvCxnSpPr/>
          <p:nvPr/>
        </p:nvCxnSpPr>
        <p:spPr>
          <a:xfrm>
            <a:off x="4727448" y="3794760"/>
            <a:ext cx="274320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3977639"/>
            <a:ext cx="11064240" cy="830997"/>
          </a:xfrm>
          <a:prstGeom prst="rect">
            <a:avLst/>
          </a:prstGeom>
          <a:noFill/>
        </p:spPr>
        <p:txBody>
          <a:bodyPr wrap="none">
            <a:spAutoFit/>
          </a:bodyPr>
          <a:lstStyle/>
          <a:p>
            <a:pPr algn="ctr"/>
            <a:r>
              <a:rPr sz="1600">
                <a:solidFill>
                  <a:srgbClr val="000000"/>
                </a:solidFill>
                <a:latin typeface="Arial"/>
              </a:rPr>
              <a:t>[Author Names]</a:t>
            </a:r>
            <a:endParaRPr/>
          </a:p>
          <a:p>
            <a:pPr algn="ctr"/>
            <a:r>
              <a:rPr sz="1600">
                <a:solidFill>
                  <a:srgbClr val="000000"/>
                </a:solidFill>
                <a:latin typeface="Arial"/>
              </a:rPr>
              <a:t>[University / Lab]</a:t>
            </a:r>
            <a:endParaRPr/>
          </a:p>
          <a:p>
            <a:pPr algn="ctr"/>
            <a:r>
              <a:rPr sz="1600">
                <a:solidFill>
                  <a:srgbClr val="000000"/>
                </a:solidFill>
                <a:latin typeface="Arial"/>
              </a:rPr>
              <a:t>[Target Venue: FAST / OSDI / ATC]</a:t>
            </a:r>
            <a:endParaRP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46" name=""/>
        <p:cNvGrpSpPr/>
        <p:nvPr/>
      </p:nvGrpSpPr>
      <p:grpSpPr>
        <a:xfrm>
          <a:off x="0" y="0"/>
          <a:ext cx="0" cy="0"/>
          <a:chOff x="0" y="0"/>
          <a:chExt cx="0" cy="0"/>
        </a:xfrm>
      </p:grpSpPr>
      <p:sp>
        <p:nvSpPr>
          <p:cNvPr id="47"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Outline</a:t>
            </a:r>
            <a:endParaRPr/>
          </a:p>
        </p:txBody>
      </p:sp>
      <p:cxnSp>
        <p:nvCxnSpPr>
          <p:cNvPr id="48"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9" name="TextBox 3"/>
          <p:cNvSpPr txBox="1"/>
          <p:nvPr/>
        </p:nvSpPr>
        <p:spPr>
          <a:xfrm>
            <a:off x="1097280" y="1554480"/>
            <a:ext cx="10058400" cy="4206240"/>
          </a:xfrm>
          <a:prstGeom prst="rect">
            <a:avLst/>
          </a:prstGeom>
          <a:noFill/>
        </p:spPr>
        <p:txBody>
          <a:bodyPr wrap="square">
            <a:spAutoFit/>
          </a:bodyPr>
          <a:lstStyle/>
          <a:p>
            <a:pPr/>
            <a:r>
              <a:rPr sz="2400" b="0">
                <a:solidFill>
                  <a:srgbClr val="000000"/>
                </a:solidFill>
                <a:latin typeface="Arial"/>
              </a:rPr>
              <a:t>1.  Background: The LSM-tree Write Path and Its Costs</a:t>
            </a:r>
            <a:endParaRPr/>
          </a:p>
          <a:p>
            <a:pPr/>
            <a:r>
              <a:rPr sz="2400" b="0">
                <a:solidFill>
                  <a:srgbClr val="000000"/>
                </a:solidFill>
                <a:latin typeface="Arial"/>
              </a:rPr>
              <a:t>2.  Motivation: Three-Way Organization Redundancy</a:t>
            </a:r>
            <a:endParaRPr/>
          </a:p>
          <a:p>
            <a:pPr/>
            <a:r>
              <a:rPr sz="2400" b="0">
                <a:solidFill>
                  <a:srgbClr val="000000"/>
                </a:solidFill>
                <a:latin typeface="Arial"/>
              </a:rPr>
              <a:t>3.  Philosophy: Write Once, Organize In-Place</a:t>
            </a:r>
            <a:endParaRPr/>
          </a:p>
          <a:p>
            <a:pPr/>
            <a:r>
              <a:rPr sz="2400" b="0">
                <a:solidFill>
                  <a:srgbClr val="000000"/>
                </a:solidFill>
                <a:latin typeface="Arial"/>
              </a:rPr>
              <a:t>4.  Challenges of a CSD-Native Write Path</a:t>
            </a:r>
            <a:endParaRPr/>
          </a:p>
          <a:p>
            <a:pPr/>
            <a:r>
              <a:rPr sz="2400" b="0">
                <a:solidFill>
                  <a:srgbClr val="000000"/>
                </a:solidFill>
                <a:latin typeface="Arial"/>
              </a:rPr>
              <a:t>5.  ZeroFlush Design (WAL Partitioning / WAL=L0 / Partition Index / CSD Compaction)</a:t>
            </a:r>
            <a:endParaRPr/>
          </a:p>
          <a:p>
            <a:pPr/>
            <a:r>
              <a:rPr sz="2400" b="0">
                <a:solidFill>
                  <a:srgbClr val="000000"/>
                </a:solidFill>
                <a:latin typeface="Arial"/>
              </a:rPr>
              <a:t>6.  Expected Results and Experimental Plan</a:t>
            </a:r>
            <a:endParaRPr/>
          </a:p>
          <a:p>
            <a:pPr/>
            <a:r>
              <a:rPr sz="2400" b="0">
                <a:solidFill>
                  <a:srgbClr val="000000"/>
                </a:solidFill>
                <a:latin typeface="Arial"/>
              </a:rPr>
              <a:t>7.  Conclusion and Open Questions</a:t>
            </a:r>
            <a:endParaRPr/>
          </a:p>
        </p:txBody>
      </p:sp>
      <p:sp>
        <p:nvSpPr>
          <p:cNvPr id="50"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2</a:t>
            </a:r>
            <a:endParaR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51" name=""/>
        <p:cNvGrpSpPr/>
        <p:nvPr/>
      </p:nvGrpSpPr>
      <p:grpSpPr>
        <a:xfrm>
          <a:off x="0" y="0"/>
          <a:ext cx="0" cy="0"/>
          <a:chOff x="0" y="0"/>
          <a:chExt cx="0" cy="0"/>
        </a:xfrm>
      </p:grpSpPr>
      <p:sp>
        <p:nvSpPr>
          <p:cNvPr id="52"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1. Background: The LSM-tree Write Path</a:t>
            </a:r>
            <a:endParaRPr/>
          </a:p>
        </p:txBody>
      </p:sp>
      <p:cxnSp>
        <p:nvCxnSpPr>
          <p:cNvPr id="53"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54" name="TextBox 3"/>
          <p:cNvSpPr txBox="1"/>
          <p:nvPr/>
        </p:nvSpPr>
        <p:spPr>
          <a:xfrm>
            <a:off x="548640" y="1280160"/>
            <a:ext cx="11064240" cy="4754880"/>
          </a:xfrm>
          <a:prstGeom prst="rect">
            <a:avLst/>
          </a:prstGeom>
          <a:noFill/>
        </p:spPr>
        <p:txBody>
          <a:bodyPr wrap="square">
            <a:spAutoFit/>
          </a:bodyPr>
          <a:lstStyle/>
          <a:p>
            <a:pPr/>
            <a:r>
              <a:rPr sz="1800" b="0" dirty="0">
                <a:solidFill>
                  <a:srgbClr val="000000"/>
                </a:solidFill>
                <a:latin typeface="Arial"/>
              </a:rPr>
              <a:t>Every Put(key, value) is organized THREE times:</a:t>
            </a:r>
            <a:endParaRPr/>
          </a:p>
          <a:p>
            <a:pPr/>
            <a:endParaRPr sz="1800" b="0" dirty="0">
              <a:solidFill>
                <a:srgbClr val="000000"/>
              </a:solidFill>
              <a:latin typeface="Arial"/>
            </a:endParaRPr>
          </a:p>
          <a:p>
            <a:pPr/>
            <a:r>
              <a:rPr sz="1800" b="0" dirty="0">
                <a:solidFill>
                  <a:srgbClr val="000000"/>
                </a:solidFill>
                <a:latin typeface="Arial"/>
              </a:rPr>
              <a:t>  1) WAL append (durability) - sequential write to NAND</a:t>
            </a:r>
            <a:endParaRPr/>
          </a:p>
          <a:p>
            <a:pPr/>
            <a:r>
              <a:rPr sz="1800" b="0" dirty="0">
                <a:solidFill>
                  <a:srgbClr val="000000"/>
                </a:solidFill>
                <a:latin typeface="Arial"/>
              </a:rPr>
              <a:t>  2) </a:t>
            </a:r>
            <a:r>
              <a:rPr sz="1800" b="0" dirty="0" err="1">
                <a:solidFill>
                  <a:srgbClr val="000000"/>
                </a:solidFill>
                <a:latin typeface="Arial"/>
              </a:rPr>
              <a:t>MemTable</a:t>
            </a:r>
            <a:r>
              <a:rPr sz="1800" b="0" dirty="0">
                <a:solidFill>
                  <a:srgbClr val="000000"/>
                </a:solidFill>
                <a:latin typeface="Arial"/>
              </a:rPr>
              <a:t> insert (ordering) - </a:t>
            </a:r>
            <a:r>
              <a:rPr sz="1800" b="0" dirty="0" err="1">
                <a:solidFill>
                  <a:srgbClr val="000000"/>
                </a:solidFill>
                <a:latin typeface="Arial"/>
              </a:rPr>
              <a:t>skiplist</a:t>
            </a:r>
            <a:r>
              <a:rPr sz="1800" b="0" dirty="0">
                <a:solidFill>
                  <a:srgbClr val="000000"/>
                </a:solidFill>
                <a:latin typeface="Arial"/>
              </a:rPr>
              <a:t> / B-tree in DRAM</a:t>
            </a:r>
            <a:endParaRPr/>
          </a:p>
          <a:p>
            <a:pPr/>
            <a:r>
              <a:rPr sz="1800" b="0" dirty="0">
                <a:solidFill>
                  <a:srgbClr val="000000"/>
                </a:solidFill>
                <a:latin typeface="Arial"/>
              </a:rPr>
              <a:t>  3) Flush (encoding) - sort + encode + build index + bloom filter</a:t>
            </a:r>
            <a:endParaRPr/>
          </a:p>
          <a:p>
            <a:pPr/>
            <a:r>
              <a:rPr sz="1800" b="0" dirty="0">
                <a:solidFill>
                  <a:srgbClr val="000000"/>
                </a:solidFill>
                <a:latin typeface="Arial"/>
              </a:rPr>
              <a:t>     -&gt; writes L0 </a:t>
            </a:r>
            <a:r>
              <a:rPr sz="1800" b="0" dirty="0" err="1">
                <a:solidFill>
                  <a:srgbClr val="000000"/>
                </a:solidFill>
                <a:latin typeface="Arial"/>
              </a:rPr>
              <a:t>SSTable</a:t>
            </a:r>
            <a:r>
              <a:rPr sz="1800" b="0" dirty="0">
                <a:solidFill>
                  <a:srgbClr val="000000"/>
                </a:solidFill>
                <a:latin typeface="Arial"/>
              </a:rPr>
              <a:t> to NAND</a:t>
            </a:r>
            <a:endParaRPr/>
          </a:p>
          <a:p>
            <a:pPr/>
            <a:endParaRPr sz="1800" b="0" dirty="0">
              <a:solidFill>
                <a:srgbClr val="000000"/>
              </a:solidFill>
              <a:latin typeface="Arial"/>
            </a:endParaRPr>
          </a:p>
          <a:p>
            <a:pPr/>
            <a:r>
              <a:rPr sz="1800" b="0" dirty="0">
                <a:solidFill>
                  <a:srgbClr val="A32D2D"/>
                </a:solidFill>
                <a:latin typeface="Arial"/>
              </a:rPr>
              <a:t>The same data crosses the PCIe bus 3 times and is written to NAND 3 times.</a:t>
            </a:r>
            <a:endParaRPr/>
          </a:p>
          <a:p>
            <a:pPr/>
            <a:r>
              <a:rPr sz="1800" b="0" dirty="0">
                <a:solidFill>
                  <a:srgbClr val="A32D2D"/>
                </a:solidFill>
                <a:latin typeface="Arial"/>
              </a:rPr>
              <a:t>  WAL write (1x) + Flush write (1x) + Compaction write (1x) = 3x write amplification</a:t>
            </a:r>
            <a:endParaRPr/>
          </a:p>
        </p:txBody>
      </p:sp>
      <p:sp>
        <p:nvSpPr>
          <p:cNvPr id="55"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3</a:t>
            </a:r>
            <a:endParaR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56" name=""/>
        <p:cNvGrpSpPr/>
        <p:nvPr/>
      </p:nvGrpSpPr>
      <p:grpSpPr>
        <a:xfrm>
          <a:off x="0" y="0"/>
          <a:ext cx="0" cy="0"/>
          <a:chOff x="0" y="0"/>
          <a:chExt cx="0" cy="0"/>
        </a:xfrm>
      </p:grpSpPr>
      <p:sp>
        <p:nvSpPr>
          <p:cNvPr id="57"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1. Background: L0 Overlap and Write Stall</a:t>
            </a:r>
            <a:endParaRPr/>
          </a:p>
        </p:txBody>
      </p:sp>
      <p:cxnSp>
        <p:nvCxnSpPr>
          <p:cNvPr id="58"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59" name="TextBox 3"/>
          <p:cNvSpPr txBox="1"/>
          <p:nvPr/>
        </p:nvSpPr>
        <p:spPr>
          <a:xfrm>
            <a:off x="548640" y="1280160"/>
            <a:ext cx="11064240" cy="4754880"/>
          </a:xfrm>
          <a:prstGeom prst="rect">
            <a:avLst/>
          </a:prstGeom>
          <a:noFill/>
        </p:spPr>
        <p:txBody>
          <a:bodyPr wrap="square">
            <a:spAutoFit/>
          </a:bodyPr>
          <a:lstStyle/>
          <a:p>
            <a:pPr/>
            <a:r>
              <a:rPr sz="1800" b="0" dirty="0">
                <a:solidFill>
                  <a:srgbClr val="000000"/>
                </a:solidFill>
                <a:latin typeface="Arial"/>
              </a:rPr>
              <a:t>Flush produces L0 </a:t>
            </a:r>
            <a:r>
              <a:rPr sz="1800" b="0" dirty="0" err="1">
                <a:solidFill>
                  <a:srgbClr val="000000"/>
                </a:solidFill>
                <a:latin typeface="Arial"/>
              </a:rPr>
              <a:t>SSTables</a:t>
            </a:r>
            <a:r>
              <a:rPr sz="1800" b="0" dirty="0">
                <a:solidFill>
                  <a:srgbClr val="000000"/>
                </a:solidFill>
                <a:latin typeface="Arial"/>
              </a:rPr>
              <a:t> whose key ranges OVERLAP:</a:t>
            </a:r>
            <a:endParaRPr/>
          </a:p>
          <a:p>
            <a:pPr/>
            <a:r>
              <a:rPr sz="1800" b="0" dirty="0">
                <a:solidFill>
                  <a:srgbClr val="000000"/>
                </a:solidFill>
                <a:latin typeface="Arial"/>
              </a:rPr>
              <a:t>  - </a:t>
            </a:r>
            <a:r>
              <a:rPr sz="1800" b="0" dirty="0" err="1">
                <a:solidFill>
                  <a:srgbClr val="000000"/>
                </a:solidFill>
                <a:latin typeface="Arial"/>
              </a:rPr>
              <a:t>MemTable</a:t>
            </a:r>
            <a:r>
              <a:rPr sz="1800" b="0" dirty="0">
                <a:solidFill>
                  <a:srgbClr val="000000"/>
                </a:solidFill>
                <a:latin typeface="Arial"/>
              </a:rPr>
              <a:t> fills by TIME, not by key range</a:t>
            </a:r>
            <a:endParaRPr/>
          </a:p>
          <a:p>
            <a:pPr/>
            <a:r>
              <a:rPr sz="1800" b="0" dirty="0">
                <a:solidFill>
                  <a:srgbClr val="000000"/>
                </a:solidFill>
                <a:latin typeface="Arial"/>
              </a:rPr>
              <a:t>  - Each flush dumps whatever keys arrived -&gt; cross-cutting ranges</a:t>
            </a:r>
            <a:endParaRPr/>
          </a:p>
          <a:p>
            <a:pPr/>
            <a:endParaRPr sz="1800" b="0" dirty="0">
              <a:solidFill>
                <a:srgbClr val="000000"/>
              </a:solidFill>
              <a:latin typeface="Arial"/>
            </a:endParaRPr>
          </a:p>
          <a:p>
            <a:pPr/>
            <a:r>
              <a:rPr sz="1800" b="0" dirty="0">
                <a:solidFill>
                  <a:srgbClr val="000000"/>
                </a:solidFill>
                <a:latin typeface="Arial"/>
              </a:rPr>
              <a:t>Consequences of L0 overlap:</a:t>
            </a:r>
            <a:endParaRPr/>
          </a:p>
          <a:p>
            <a:pPr/>
            <a:r>
              <a:rPr sz="1800" b="0" dirty="0">
                <a:solidFill>
                  <a:srgbClr val="000000"/>
                </a:solidFill>
                <a:latin typeface="Arial"/>
              </a:rPr>
              <a:t>  - Point queries must check ALL L0 files (read amplification)</a:t>
            </a:r>
            <a:endParaRPr/>
          </a:p>
          <a:p>
            <a:pPr/>
            <a:r>
              <a:rPr sz="1800" b="0" dirty="0">
                <a:solidFill>
                  <a:srgbClr val="000000"/>
                </a:solidFill>
                <a:latin typeface="Arial"/>
              </a:rPr>
              <a:t>  - L0-&gt;L1 compaction must merge many overlapping files</a:t>
            </a:r>
            <a:endParaRPr/>
          </a:p>
          <a:p>
            <a:pPr/>
            <a:r>
              <a:rPr sz="1800" b="0" dirty="0">
                <a:solidFill>
                  <a:srgbClr val="000000"/>
                </a:solidFill>
                <a:latin typeface="Arial"/>
              </a:rPr>
              <a:t>  - If compaction cannot keep up -&gt; write stall (foreground blocked)</a:t>
            </a:r>
            <a:endParaRPr/>
          </a:p>
          <a:p>
            <a:pPr/>
            <a:endParaRPr sz="1800" b="0" dirty="0">
              <a:solidFill>
                <a:srgbClr val="000000"/>
              </a:solidFill>
              <a:latin typeface="Arial"/>
            </a:endParaRPr>
          </a:p>
          <a:p>
            <a:pPr/>
            <a:r>
              <a:rPr sz="1800" b="0" dirty="0">
                <a:solidFill>
                  <a:srgbClr val="A32D2D"/>
                </a:solidFill>
                <a:latin typeface="Arial"/>
              </a:rPr>
              <a:t>In </a:t>
            </a:r>
            <a:r>
              <a:rPr sz="1800" b="0" dirty="0" err="1">
                <a:solidFill>
                  <a:srgbClr val="A32D2D"/>
                </a:solidFill>
                <a:latin typeface="Arial"/>
              </a:rPr>
              <a:t>RocksDB</a:t>
            </a:r>
            <a:r>
              <a:rPr sz="1800" b="0" dirty="0">
                <a:solidFill>
                  <a:srgbClr val="A32D2D"/>
                </a:solidFill>
                <a:latin typeface="Arial"/>
              </a:rPr>
              <a:t> benchmarks: write stall can reach 1230s under write-intensive workloads.</a:t>
            </a:r>
            <a:endParaRPr/>
          </a:p>
          <a:p>
            <a:pPr/>
            <a:r>
              <a:rPr sz="1800" b="0" dirty="0">
                <a:solidFill>
                  <a:srgbClr val="A32D2D"/>
                </a:solidFill>
                <a:latin typeface="Arial"/>
              </a:rPr>
              <a:t>L0 overlap is the "original sin" of the flush mechanism.</a:t>
            </a:r>
            <a:endParaRPr/>
          </a:p>
        </p:txBody>
      </p:sp>
      <p:sp>
        <p:nvSpPr>
          <p:cNvPr id="60"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4</a:t>
            </a:r>
            <a:endParaR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61" name=""/>
        <p:cNvGrpSpPr/>
        <p:nvPr/>
      </p:nvGrpSpPr>
      <p:grpSpPr>
        <a:xfrm>
          <a:off x="0" y="0"/>
          <a:ext cx="0" cy="0"/>
          <a:chOff x="0" y="0"/>
          <a:chExt cx="0" cy="0"/>
        </a:xfrm>
      </p:grpSpPr>
      <p:sp>
        <p:nvSpPr>
          <p:cNvPr id="62"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2. Motivation: Three Organizations for Three Purposes</a:t>
            </a:r>
            <a:endParaRPr/>
          </a:p>
        </p:txBody>
      </p:sp>
      <p:cxnSp>
        <p:nvCxnSpPr>
          <p:cNvPr id="63"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64" name="TextBox 3"/>
          <p:cNvSpPr txBox="1"/>
          <p:nvPr/>
        </p:nvSpPr>
        <p:spPr>
          <a:xfrm>
            <a:off x="548640" y="1280160"/>
            <a:ext cx="11064240" cy="1200000"/>
          </a:xfrm>
          <a:prstGeom prst="rect">
            <a:avLst/>
          </a:prstGeom>
          <a:noFill/>
        </p:spPr>
        <p:txBody>
          <a:bodyPr wrap="square">
            <a:spAutoFit/>
          </a:bodyPr>
          <a:lstStyle/>
          <a:p>
            <a:pPr/>
            <a:r>
              <a:rPr sz="1800" b="0" dirty="0">
                <a:solidFill>
                  <a:srgbClr val="000000"/>
                </a:solidFill>
                <a:latin typeface="Arial"/>
              </a:rPr>
              <a:t>Root cause: the write path serves three INDEPENDENT purposes</a:t>
            </a:r>
            <a:endParaRPr/>
          </a:p>
          <a:p>
            <a:pPr/>
            <a:r>
              <a:rPr sz="1800" b="0" dirty="0">
                <a:solidFill>
                  <a:srgbClr val="000000"/>
                </a:solidFill>
                <a:latin typeface="Arial"/>
              </a:rPr>
              <a:t>with three SEPARATE mechanisms:</a:t>
            </a:r>
            <a:endParaRPr/>
          </a:p>
          <a:p>
            <a:pPr/>
            <a:endParaRPr sz="1800" b="0" dirty="0">
              <a:solidFill>
                <a:srgbClr val="000000"/>
              </a:solidFill>
              <a:latin typeface="Arial"/>
            </a:endParaRPr>
          </a:p>
        </p:txBody>
      </p:sp>
      <p:sp>
        <p:nvSpPr>
          <p:cNvPr id="65" name="Rectangle 4"/>
          <p:cNvSpPr/>
          <p:nvPr/>
        </p:nvSpPr>
        <p:spPr>
          <a:xfrm>
            <a:off x="548640" y="2200000"/>
            <a:ext cx="3400000" cy="1200000"/>
          </a:xfrm>
          <a:prstGeom prst="rect">
            <a:avLst/>
          </a:prstGeom>
          <a:solidFill>
            <a:srgbClr val="E6F1FB"/>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85FA5"/>
                </a:solidFill>
                <a:latin typeface="Arial"/>
              </a:rPr>
              <a:t>WAL</a:t>
            </a:r>
            <a:endParaRPr/>
          </a:p>
          <a:p>
            <a:pPr algn="l"/>
            <a:r>
              <a:rPr sz="1300" b="0">
                <a:solidFill>
                  <a:srgbClr val="000000"/>
                </a:solidFill>
                <a:latin typeface="Arial"/>
              </a:rPr>
              <a:t>Purpose: durability</a:t>
            </a:r>
            <a:endParaRPr/>
          </a:p>
          <a:p>
            <a:pPr algn="l"/>
            <a:r>
              <a:rPr sz="1300" b="0">
                <a:solidFill>
                  <a:srgbClr val="000000"/>
                </a:solidFill>
                <a:latin typeface="Arial"/>
              </a:rPr>
              <a:t>Format: append-only log</a:t>
            </a:r>
            <a:endParaRPr/>
          </a:p>
          <a:p>
            <a:pPr algn="l"/>
            <a:r>
              <a:rPr sz="1300" b="0">
                <a:solidFill>
                  <a:srgbClr val="000000"/>
                </a:solidFill>
                <a:latin typeface="Arial"/>
              </a:rPr>
              <a:t>Cost: 1x NAND write + PCIe</a:t>
            </a:r>
            <a:endParaRPr/>
          </a:p>
        </p:txBody>
      </p:sp>
      <p:sp>
        <p:nvSpPr>
          <p:cNvPr id="66" name="Rectangle 5"/>
          <p:cNvSpPr/>
          <p:nvPr/>
        </p:nvSpPr>
        <p:spPr>
          <a:xfrm>
            <a:off x="4200000" y="2200000"/>
            <a:ext cx="3400000" cy="1200000"/>
          </a:xfrm>
          <a:prstGeom prst="rect">
            <a:avLst/>
          </a:prstGeom>
          <a:solidFill>
            <a:srgbClr val="E1F5EE"/>
          </a:solidFill>
          <a:ln w="6350">
            <a:solidFill>
              <a:srgbClr val="0F6E5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err="1">
                <a:solidFill>
                  <a:srgbClr val="0F6E56"/>
                </a:solidFill>
                <a:latin typeface="Arial"/>
              </a:rPr>
              <a:t>MemTable</a:t>
            </a:r>
            <a:endParaRPr sz="1600" b="1" dirty="0">
              <a:solidFill>
                <a:srgbClr val="0F6E56"/>
              </a:solidFill>
              <a:latin typeface="Arial"/>
            </a:endParaRPr>
          </a:p>
          <a:p>
            <a:pPr algn="l"/>
            <a:r>
              <a:rPr sz="1300" b="0" dirty="0">
                <a:solidFill>
                  <a:srgbClr val="000000"/>
                </a:solidFill>
                <a:latin typeface="Arial"/>
              </a:rPr>
              <a:t>Purpose: ordering</a:t>
            </a:r>
            <a:endParaRPr/>
          </a:p>
          <a:p>
            <a:pPr algn="l"/>
            <a:r>
              <a:rPr sz="1300" b="0" dirty="0">
                <a:solidFill>
                  <a:srgbClr val="000000"/>
                </a:solidFill>
                <a:latin typeface="Arial"/>
              </a:rPr>
              <a:t>Format: </a:t>
            </a:r>
            <a:r>
              <a:rPr sz="1300" b="0" dirty="0" err="1">
                <a:solidFill>
                  <a:srgbClr val="000000"/>
                </a:solidFill>
                <a:latin typeface="Arial"/>
              </a:rPr>
              <a:t>skiplist</a:t>
            </a:r>
            <a:r>
              <a:rPr sz="1300" b="0" dirty="0">
                <a:solidFill>
                  <a:srgbClr val="000000"/>
                </a:solidFill>
                <a:latin typeface="Arial"/>
              </a:rPr>
              <a:t> in DRAM</a:t>
            </a:r>
            <a:endParaRPr/>
          </a:p>
          <a:p>
            <a:pPr algn="l"/>
            <a:r>
              <a:rPr sz="1300" b="0" dirty="0">
                <a:solidFill>
                  <a:srgbClr val="000000"/>
                </a:solidFill>
                <a:latin typeface="Arial"/>
              </a:rPr>
              <a:t>Cost: 64-256MB memory + CPU</a:t>
            </a:r>
            <a:endParaRPr/>
          </a:p>
        </p:txBody>
      </p:sp>
      <p:sp>
        <p:nvSpPr>
          <p:cNvPr id="67" name="Rectangle 6"/>
          <p:cNvSpPr/>
          <p:nvPr/>
        </p:nvSpPr>
        <p:spPr>
          <a:xfrm>
            <a:off x="7850000" y="2200000"/>
            <a:ext cx="3400000" cy="1200000"/>
          </a:xfrm>
          <a:prstGeom prst="rect">
            <a:avLst/>
          </a:prstGeom>
          <a:solidFill>
            <a:srgbClr val="FAEEDA"/>
          </a:solidFill>
          <a:ln w="6350">
            <a:solidFill>
              <a:srgbClr val="854F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854F0B"/>
                </a:solidFill>
                <a:latin typeface="Arial"/>
              </a:rPr>
              <a:t>Flush</a:t>
            </a:r>
            <a:endParaRPr/>
          </a:p>
          <a:p>
            <a:pPr algn="l"/>
            <a:r>
              <a:rPr sz="1300" b="0" dirty="0">
                <a:solidFill>
                  <a:srgbClr val="000000"/>
                </a:solidFill>
                <a:latin typeface="Arial"/>
              </a:rPr>
              <a:t>Purpose: encoding</a:t>
            </a:r>
            <a:endParaRPr/>
          </a:p>
          <a:p>
            <a:pPr algn="l"/>
            <a:r>
              <a:rPr sz="1300" b="0" dirty="0">
                <a:solidFill>
                  <a:srgbClr val="000000"/>
                </a:solidFill>
                <a:latin typeface="Arial"/>
              </a:rPr>
              <a:t>Format: </a:t>
            </a:r>
            <a:r>
              <a:rPr sz="1300" b="0" dirty="0" err="1">
                <a:solidFill>
                  <a:srgbClr val="000000"/>
                </a:solidFill>
                <a:latin typeface="Arial"/>
              </a:rPr>
              <a:t>SSTable</a:t>
            </a:r>
            <a:r>
              <a:rPr sz="1300" b="0" dirty="0">
                <a:solidFill>
                  <a:srgbClr val="000000"/>
                </a:solidFill>
                <a:latin typeface="Arial"/>
              </a:rPr>
              <a:t> blocks + index</a:t>
            </a:r>
            <a:endParaRPr/>
          </a:p>
          <a:p>
            <a:pPr algn="l"/>
            <a:r>
              <a:rPr sz="1300" b="0" dirty="0">
                <a:solidFill>
                  <a:srgbClr val="000000"/>
                </a:solidFill>
                <a:latin typeface="Arial"/>
              </a:rPr>
              <a:t>Cost: 1x NAND write + PCIe + CPU</a:t>
            </a:r>
            <a:endParaRPr/>
          </a:p>
        </p:txBody>
      </p:sp>
      <p:sp>
        <p:nvSpPr>
          <p:cNvPr id="68" name="TextBox 7"/>
          <p:cNvSpPr txBox="1"/>
          <p:nvPr/>
        </p:nvSpPr>
        <p:spPr>
          <a:xfrm>
            <a:off x="548640" y="3700000"/>
            <a:ext cx="11064240" cy="800000"/>
          </a:xfrm>
          <a:prstGeom prst="rect">
            <a:avLst/>
          </a:prstGeom>
          <a:noFill/>
        </p:spPr>
        <p:txBody>
          <a:bodyPr wrap="square">
            <a:spAutoFit/>
          </a:bodyPr>
          <a:lstStyle/>
          <a:p>
            <a:pPr/>
            <a:r>
              <a:rPr sz="1600" b="0">
                <a:solidFill>
                  <a:srgbClr val="A32D2D"/>
                </a:solidFill>
                <a:latin typeface="Arial"/>
              </a:rPr>
              <a:t>If the storage device can compute, ordering and encoding</a:t>
            </a:r>
            <a:endParaRPr/>
          </a:p>
          <a:p>
            <a:pPr/>
            <a:r>
              <a:rPr sz="1600" b="0">
                <a:solidFill>
                  <a:srgbClr val="A32D2D"/>
                </a:solidFill>
                <a:latin typeface="Arial"/>
              </a:rPr>
              <a:t>do not need the host. These three can collapse into ONE write.</a:t>
            </a:r>
            <a:endParaRPr/>
          </a:p>
        </p:txBody>
      </p:sp>
      <p:sp>
        <p:nvSpPr>
          <p:cNvPr id="69" name="TextBox 8"/>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5</a:t>
            </a:r>
            <a:endParaR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70" name=""/>
        <p:cNvGrpSpPr/>
        <p:nvPr/>
      </p:nvGrpSpPr>
      <p:grpSpPr>
        <a:xfrm>
          <a:off x="0" y="0"/>
          <a:ext cx="0" cy="0"/>
          <a:chOff x="0" y="0"/>
          <a:chExt cx="0" cy="0"/>
        </a:xfrm>
      </p:grpSpPr>
      <p:sp>
        <p:nvSpPr>
          <p:cNvPr id="71" name="TextBox 1"/>
          <p:cNvSpPr txBox="1"/>
          <p:nvPr/>
        </p:nvSpPr>
        <p:spPr>
          <a:xfrm>
            <a:off x="548640" y="320040"/>
            <a:ext cx="11064240" cy="731520"/>
          </a:xfrm>
          <a:prstGeom prst="rect">
            <a:avLst/>
          </a:prstGeom>
          <a:noFill/>
        </p:spPr>
        <p:txBody>
          <a:bodyPr wrap="square">
            <a:spAutoFit/>
          </a:bodyPr>
          <a:lstStyle/>
          <a:p>
            <a:pPr/>
            <a:r>
              <a:rPr lang="zh-CN" sz="2800" b="1">
                <a:solidFill>
                  <a:srgbClr val="000000"/>
                </a:solidFill>
                <a:latin typeface="Arial"/>
                <a:ea typeface="Arial"/>
              </a:rPr>
              <a:t>2. Motivation: Why Does Flush Survive?</a:t>
            </a:r>
            <a:endParaRPr lang="zh-CN" sz="2800" b="1">
              <a:solidFill>
                <a:srgbClr val="000000"/>
              </a:solidFill>
              <a:latin typeface="Arial"/>
              <a:ea typeface="Arial"/>
            </a:endParaRPr>
          </a:p>
        </p:txBody>
      </p:sp>
      <p:cxnSp>
        <p:nvCxnSpPr>
          <p:cNvPr id="72"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73" name="TextBox 3"/>
          <p:cNvSpPr txBox="1"/>
          <p:nvPr/>
        </p:nvSpPr>
        <p:spPr>
          <a:xfrm>
            <a:off x="548640" y="1280160"/>
            <a:ext cx="11061700" cy="5105400"/>
          </a:xfrm>
          <a:prstGeom prst="rect">
            <a:avLst/>
          </a:prstGeom>
          <a:noFill/>
        </p:spPr>
        <p:txBody>
          <a:bodyPr wrap="square">
            <a:spAutoFit/>
          </a:bodyPr>
          <a:lstStyle/>
          <a:p>
            <a:pPr/>
            <a:r>
              <a:rPr lang="zh-CN" sz="1600" b="0">
                <a:solidFill>
                  <a:srgbClr val="A32D2D"/>
                </a:solidFill>
                <a:latin typeface="Arial"/>
              </a:rPr>
              <a:t>Prior work optimizes WITHIN the inherited write path; none re-derives it.</a:t>
            </a:r>
            <a:r>
              <a:rPr lang="zh-CN" sz="1600" b="0">
                <a:solidFill>
                  <a:srgbClr val="A32D2D"/>
                </a:solidFill>
                <a:latin typeface="Arial"/>
              </a:rPr>
              <a:t></a:t>
            </a:r>
            <a:r>
              <a:rPr lang="zh-CN" sz="1600" b="0">
                <a:solidFill>
                  <a:srgbClr val="A32D2D"/>
                </a:solidFill>
                <a:latin typeface="Arial"/>
              </a:rPr>
              <a:t>
</a:t>
            </a:r>
            <a:r>
              <a:rPr lang="zh-CN" sz="1600" b="0">
                <a:solidFill>
                  <a:srgbClr val="A32D2D"/>
                </a:solidFill>
                <a:latin typeface="Arial"/>
              </a:rPr>
              <a:t></a:t>
            </a:r>
            <a:r>
              <a:rPr lang="zh-CN" sz="1600" b="0">
                <a:solidFill>
                  <a:srgbClr val="A32D2D"/>
                </a:solidFill>
                <a:latin typeface="Arial"/>
              </a:rPr>
              <a:t>
Observation 1 - Overlap is decided at write admission</a:t>
            </a:r>
            <a:r>
              <a:rPr lang="zh-CN" sz="1600" b="0">
                <a:solidFill>
                  <a:srgbClr val="A32D2D"/>
                </a:solidFill>
                <a:latin typeface="Arial"/>
              </a:rPr>
              <a:t></a:t>
            </a:r>
            <a:r>
              <a:rPr lang="zh-CN" sz="1600" b="0">
                <a:solidFill>
                  <a:srgbClr val="A32D2D"/>
                </a:solidFill>
                <a:latin typeface="Arial"/>
              </a:rPr>
              <a:t>
  MemTable fills by time, so flush emits overlapping L0 files; every prior work</a:t>
            </a:r>
            <a:r>
              <a:rPr lang="zh-CN" sz="1600" b="0">
                <a:solidFill>
                  <a:srgbClr val="A32D2D"/>
                </a:solidFill>
                <a:latin typeface="Arial"/>
              </a:rPr>
              <a:t></a:t>
            </a:r>
            <a:r>
              <a:rPr lang="zh-CN" sz="1600" b="0">
                <a:solidFill>
                  <a:srgbClr val="A32D2D"/>
                </a:solidFill>
                <a:latin typeface="Arial"/>
              </a:rPr>
              <a:t>
  mitigates the cost at compaction time. None intervenes at admission.</a:t>
            </a:r>
            <a:r>
              <a:rPr lang="zh-CN" sz="1600" b="0">
                <a:solidFill>
                  <a:srgbClr val="A32D2D"/>
                </a:solidFill>
                <a:latin typeface="Arial"/>
              </a:rPr>
              <a:t></a:t>
            </a:r>
            <a:r>
              <a:rPr lang="zh-CN" sz="1600" b="0">
                <a:solidFill>
                  <a:srgbClr val="A32D2D"/>
                </a:solidFill>
                <a:latin typeface="Arial"/>
              </a:rPr>
              <a:t>
</a:t>
            </a:r>
            <a:r>
              <a:rPr lang="zh-CN" sz="1600" b="0">
                <a:solidFill>
                  <a:srgbClr val="A32D2D"/>
                </a:solidFill>
                <a:latin typeface="Arial"/>
              </a:rPr>
              <a:t></a:t>
            </a:r>
            <a:r>
              <a:rPr lang="zh-CN" sz="1600" b="0">
                <a:solidFill>
                  <a:srgbClr val="A32D2D"/>
                </a:solidFill>
                <a:latin typeface="Arial"/>
              </a:rPr>
              <a:t>
Observation 2 - Flush persists on an obsolete hardware premise</a:t>
            </a:r>
            <a:r>
              <a:rPr lang="zh-CN" sz="1600" b="0">
                <a:solidFill>
                  <a:srgbClr val="A32D2D"/>
                </a:solidFill>
                <a:latin typeface="Arial"/>
              </a:rPr>
              <a:t></a:t>
            </a:r>
            <a:r>
              <a:rPr lang="zh-CN" sz="1600" b="0">
                <a:solidFill>
                  <a:srgbClr val="A32D2D"/>
                </a:solidFill>
                <a:latin typeface="Arial"/>
              </a:rPr>
              <a:t>
  The write path assumes ordering/encoding is possible only in host DRAM.</a:t>
            </a:r>
            <a:r>
              <a:rPr lang="zh-CN" sz="1600" b="0">
                <a:solidFill>
                  <a:srgbClr val="A32D2D"/>
                </a:solidFill>
                <a:latin typeface="Arial"/>
              </a:rPr>
              <a:t></a:t>
            </a:r>
            <a:r>
              <a:rPr lang="zh-CN" sz="1600" b="0">
                <a:solidFill>
                  <a:srgbClr val="A32D2D"/>
                </a:solidFill>
                <a:latin typeface="Arial"/>
              </a:rPr>
              <a:t>
  Device compute breaks that premise, yet no design re-derives the path from it.</a:t>
            </a:r>
            <a:r>
              <a:rPr lang="zh-CN" sz="1600" b="0">
                <a:solidFill>
                  <a:srgbClr val="A32D2D"/>
                </a:solidFill>
                <a:latin typeface="Arial"/>
              </a:rPr>
              <a:t></a:t>
            </a:r>
            <a:r>
              <a:rPr lang="zh-CN" sz="1600" b="0">
                <a:solidFill>
                  <a:srgbClr val="A32D2D"/>
                </a:solidFill>
                <a:latin typeface="Arial"/>
              </a:rPr>
              <a:t>
</a:t>
            </a:r>
            <a:r>
              <a:rPr lang="zh-CN" sz="1600" b="0">
                <a:solidFill>
                  <a:srgbClr val="A32D2D"/>
                </a:solidFill>
                <a:latin typeface="Arial"/>
              </a:rPr>
              <a:t></a:t>
            </a:r>
            <a:r>
              <a:rPr lang="zh-CN" sz="1600" b="0">
                <a:solidFill>
                  <a:srgbClr val="A32D2D"/>
                </a:solidFill>
                <a:latin typeface="Arial"/>
              </a:rPr>
              <a:t>
Observation 3 - Offloading accelerates work; it cannot eliminate it</a:t>
            </a:r>
            <a:r>
              <a:rPr lang="zh-CN" sz="1600" b="0">
                <a:solidFill>
                  <a:srgbClr val="A32D2D"/>
                </a:solidFill>
                <a:latin typeface="Arial"/>
              </a:rPr>
              <a:t></a:t>
            </a:r>
            <a:r>
              <a:rPr lang="zh-CN" sz="1600" b="0">
                <a:solidFill>
                  <a:srgbClr val="A32D2D"/>
                </a:solidFill>
                <a:latin typeface="Arial"/>
              </a:rPr>
              <a:t>
  CSD offload makes background work faster, but cannot remove the flush NAND</a:t>
            </a:r>
            <a:r>
              <a:rPr lang="zh-CN" sz="1600" b="0">
                <a:solidFill>
                  <a:srgbClr val="A32D2D"/>
                </a:solidFill>
                <a:latin typeface="Arial"/>
              </a:rPr>
              <a:t></a:t>
            </a:r>
            <a:r>
              <a:rPr lang="zh-CN" sz="1600" b="0">
                <a:solidFill>
                  <a:srgbClr val="A32D2D"/>
                </a:solidFill>
                <a:latin typeface="Arial"/>
              </a:rPr>
              <a:t>
  write pass or the overlapping L0 it emits. Its benefit is bounded by the pipeline.</a:t>
            </a:r>
            <a:r>
              <a:rPr lang="zh-CN" sz="1600" b="0">
                <a:solidFill>
                  <a:srgbClr val="A32D2D"/>
                </a:solidFill>
                <a:latin typeface="Arial"/>
              </a:rPr>
              <a:t></a:t>
            </a:r>
            <a:r>
              <a:rPr lang="zh-CN" sz="1600" b="0">
                <a:solidFill>
                  <a:srgbClr val="A32D2D"/>
                </a:solidFill>
                <a:latin typeface="Arial"/>
              </a:rPr>
              <a:t>
</a:t>
            </a:r>
            <a:r>
              <a:rPr lang="zh-CN" sz="1600" b="0">
                <a:solidFill>
                  <a:srgbClr val="A32D2D"/>
                </a:solidFill>
                <a:latin typeface="Arial"/>
              </a:rPr>
              <a:t></a:t>
            </a:r>
            <a:r>
              <a:rPr lang="zh-CN" sz="1600" b="1">
                <a:solidFill>
                  <a:srgbClr val="A32D2D"/>
                </a:solidFill>
                <a:latin typeface="Arial"/>
              </a:rPr>
              <a:t>
ZeroFlush asks whether device compute makes the flush stage itself unnecessary</a:t>
            </a:r>
            <a:r>
              <a:rPr lang="zh-CN" sz="1600" b="1">
                <a:solidFill>
                  <a:srgbClr val="A32D2D"/>
                </a:solidFill>
                <a:latin typeface="Arial"/>
              </a:rPr>
              <a:t></a:t>
            </a:r>
            <a:r>
              <a:rPr lang="zh-CN" sz="1600" b="1">
                <a:solidFill>
                  <a:srgbClr val="A32D2D"/>
                </a:solidFill>
                <a:latin typeface="Arial"/>
              </a:rPr>
              <a:t>
accelerate vs. eliminate - a difference in problem definition, not in combination.</a:t>
            </a:r>
            <a:endParaRPr lang="zh-CN" sz="1600" b="1">
              <a:solidFill>
                <a:srgbClr val="A32D2D"/>
              </a:solidFill>
              <a:latin typeface="Arial"/>
            </a:endParaRPr>
          </a:p>
        </p:txBody>
      </p:sp>
      <p:sp>
        <p:nvSpPr>
          <p:cNvPr id="74"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6</a:t>
            </a:r>
            <a:endParaRP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75" name=""/>
        <p:cNvGrpSpPr/>
        <p:nvPr/>
      </p:nvGrpSpPr>
      <p:grpSpPr>
        <a:xfrm>
          <a:off x="0" y="0"/>
          <a:ext cx="0" cy="0"/>
          <a:chOff x="0" y="0"/>
          <a:chExt cx="0" cy="0"/>
        </a:xfrm>
      </p:grpSpPr>
      <p:sp>
        <p:nvSpPr>
          <p:cNvPr id="76"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3. Philosophy: Write Once, Organize In-Place</a:t>
            </a:r>
            <a:endParaRPr/>
          </a:p>
        </p:txBody>
      </p:sp>
      <p:cxnSp>
        <p:nvCxnSpPr>
          <p:cNvPr id="77"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78" name="Rectangle 3"/>
          <p:cNvSpPr/>
          <p:nvPr/>
        </p:nvSpPr>
        <p:spPr>
          <a:xfrm>
            <a:off x="1600000" y="1600000"/>
            <a:ext cx="8800000" cy="1200000"/>
          </a:xfrm>
          <a:prstGeom prst="rect">
            <a:avLst/>
          </a:prstGeom>
          <a:solidFill>
            <a:srgbClr val="E6F1FB"/>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185FA5"/>
                </a:solidFill>
                <a:latin typeface="Arial"/>
              </a:rPr>
              <a:t>Write once, organize in-place.</a:t>
            </a:r>
            <a:endParaRPr/>
          </a:p>
          <a:p>
            <a:pPr algn="l"/>
            <a:endParaRPr sz="2200" b="1">
              <a:solidFill>
                <a:srgbClr val="185FA5"/>
              </a:solidFill>
              <a:latin typeface="Arial"/>
            </a:endParaRPr>
          </a:p>
          <a:p>
            <a:pPr algn="l"/>
            <a:r>
              <a:rPr sz="1600" b="0">
                <a:solidFill>
                  <a:srgbClr val="000000"/>
                </a:solidFill>
                <a:latin typeface="Arial"/>
              </a:rPr>
              <a:t>Data is written to NAND exactly once (as WAL).</a:t>
            </a:r>
            <a:endParaRPr/>
          </a:p>
          <a:p>
            <a:pPr algn="l"/>
            <a:r>
              <a:rPr sz="1600" b="0">
                <a:solidFill>
                  <a:srgbClr val="000000"/>
                </a:solidFill>
                <a:latin typeface="Arial"/>
              </a:rPr>
              <a:t>All subsequent organization (ordering, encoding, merging)</a:t>
            </a:r>
            <a:endParaRPr/>
          </a:p>
          <a:p>
            <a:pPr algn="l"/>
            <a:r>
              <a:rPr sz="1600" b="0">
                <a:solidFill>
                  <a:srgbClr val="000000"/>
                </a:solidFill>
                <a:latin typeface="Arial"/>
              </a:rPr>
              <a:t>happens inside the storage device, on the internal bus.</a:t>
            </a:r>
            <a:endParaRPr/>
          </a:p>
        </p:txBody>
      </p:sp>
      <p:sp>
        <p:nvSpPr>
          <p:cNvPr id="79" name="TextBox 4"/>
          <p:cNvSpPr txBox="1"/>
          <p:nvPr/>
        </p:nvSpPr>
        <p:spPr>
          <a:xfrm>
            <a:off x="548640" y="3000000"/>
            <a:ext cx="11064240" cy="3000000"/>
          </a:xfrm>
          <a:prstGeom prst="rect">
            <a:avLst/>
          </a:prstGeom>
          <a:noFill/>
        </p:spPr>
        <p:txBody>
          <a:bodyPr wrap="square">
            <a:spAutoFit/>
          </a:bodyPr>
          <a:lstStyle/>
          <a:p>
            <a:pPr/>
            <a:endParaRPr/>
          </a:p>
          <a:p>
            <a:pPr/>
            <a:r>
              <a:rPr sz="1600" b="1">
                <a:solidFill>
                  <a:srgbClr val="000000"/>
                </a:solidFill>
                <a:latin typeface="Arial"/>
              </a:rPr>
              <a:t>CSD is not an accelerator. It is an enabler of a new write path.</a:t>
            </a:r>
            <a:endParaRPr/>
          </a:p>
          <a:p>
            <a:pPr/>
            <a:endParaRPr sz="1600" b="1">
              <a:solidFill>
                <a:srgbClr val="000000"/>
              </a:solidFill>
              <a:latin typeface="Arial"/>
            </a:endParaRPr>
          </a:p>
          <a:p>
            <a:pPr/>
            <a:r>
              <a:rPr sz="1500" b="0">
                <a:solidFill>
                  <a:srgbClr val="000000"/>
                </a:solidFill>
                <a:latin typeface="Arial"/>
              </a:rPr>
              <a:t>Traditional view:  Host organizes -&gt; CSD stores</a:t>
            </a:r>
            <a:endParaRPr/>
          </a:p>
          <a:p>
            <a:pPr/>
            <a:r>
              <a:rPr sz="1500" b="0">
                <a:solidFill>
                  <a:srgbClr val="000000"/>
                </a:solidFill>
                <a:latin typeface="Arial"/>
              </a:rPr>
              <a:t>ZeroFlush view:    Host writes -&gt; CSD organizes in-place</a:t>
            </a:r>
            <a:endParaRPr/>
          </a:p>
          <a:p>
            <a:pPr/>
            <a:endParaRPr sz="1500" b="0">
              <a:solidFill>
                <a:srgbClr val="000000"/>
              </a:solidFill>
              <a:latin typeface="Arial"/>
            </a:endParaRPr>
          </a:p>
          <a:p>
            <a:pPr/>
            <a:r>
              <a:rPr sz="1500" b="0">
                <a:solidFill>
                  <a:srgbClr val="0F6E56"/>
                </a:solidFill>
                <a:latin typeface="Arial"/>
              </a:rPr>
              <a:t>This distinction is what separates "offloading" from "restructuring".</a:t>
            </a:r>
            <a:endParaRPr/>
          </a:p>
        </p:txBody>
      </p:sp>
      <p:sp>
        <p:nvSpPr>
          <p:cNvPr id="80" name="TextBox 5"/>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7</a:t>
            </a:r>
            <a:endParaR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81" name=""/>
        <p:cNvGrpSpPr/>
        <p:nvPr/>
      </p:nvGrpSpPr>
      <p:grpSpPr>
        <a:xfrm>
          <a:off x="0" y="0"/>
          <a:ext cx="0" cy="0"/>
          <a:chOff x="0" y="0"/>
          <a:chExt cx="0" cy="0"/>
        </a:xfrm>
      </p:grpSpPr>
      <p:sp>
        <p:nvSpPr>
          <p:cNvPr id="82"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4. Challenges of a CSD-Native Write Path</a:t>
            </a:r>
            <a:endParaRPr/>
          </a:p>
        </p:txBody>
      </p:sp>
      <p:cxnSp>
        <p:nvCxnSpPr>
          <p:cNvPr id="83"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84" name="TextBox 3"/>
          <p:cNvSpPr txBox="1"/>
          <p:nvPr/>
        </p:nvSpPr>
        <p:spPr>
          <a:xfrm>
            <a:off x="548640" y="1280160"/>
            <a:ext cx="11064240" cy="500000"/>
          </a:xfrm>
          <a:prstGeom prst="rect">
            <a:avLst/>
          </a:prstGeom>
          <a:noFill/>
        </p:spPr>
        <p:txBody>
          <a:bodyPr wrap="square">
            <a:spAutoFit/>
          </a:bodyPr>
          <a:lstStyle/>
          <a:p>
            <a:pPr/>
            <a:r>
              <a:rPr sz="1800" b="0">
                <a:solidFill>
                  <a:srgbClr val="000000"/>
                </a:solidFill>
                <a:latin typeface="Arial"/>
              </a:rPr>
              <a:t>Eliminating flush and reorganizing in-storage sounds ideal, but:</a:t>
            </a:r>
            <a:endParaRPr/>
          </a:p>
        </p:txBody>
      </p:sp>
      <p:sp>
        <p:nvSpPr>
          <p:cNvPr id="85" name="Rectangle 4"/>
          <p:cNvSpPr/>
          <p:nvPr/>
        </p:nvSpPr>
        <p:spPr>
          <a:xfrm>
            <a:off x="548640" y="1900000"/>
            <a:ext cx="3500000" cy="2600000"/>
          </a:xfrm>
          <a:prstGeom prst="rect">
            <a:avLst/>
          </a:prstGeom>
          <a:solidFill>
            <a:srgbClr val="FCEBEB"/>
          </a:solidFill>
          <a:ln w="6350">
            <a:solidFill>
              <a:srgbClr val="A32D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A32D2D"/>
                </a:solidFill>
                <a:latin typeface="Arial"/>
              </a:rPr>
              <a:t>(1) Ordering gap</a:t>
            </a:r>
            <a:endParaRPr/>
          </a:p>
          <a:p>
            <a:pPr algn="l"/>
            <a:endParaRPr sz="1400" b="1">
              <a:solidFill>
                <a:srgbClr val="A32D2D"/>
              </a:solidFill>
              <a:latin typeface="Arial"/>
            </a:endParaRPr>
          </a:p>
          <a:p>
            <a:pPr algn="l"/>
            <a:r>
              <a:rPr sz="1200" b="0">
                <a:solidFill>
                  <a:srgbClr val="000000"/>
                </a:solidFill>
                <a:latin typeface="Arial"/>
              </a:rPr>
              <a:t>WAL is append-only (unordered).</a:t>
            </a:r>
            <a:endParaRPr/>
          </a:p>
          <a:p>
            <a:pPr algn="l"/>
            <a:r>
              <a:rPr sz="1200" b="0">
                <a:solidFill>
                  <a:srgbClr val="000000"/>
                </a:solidFill>
                <a:latin typeface="Arial"/>
              </a:rPr>
              <a:t>SSTable requires sorted keys.</a:t>
            </a:r>
            <a:endParaRPr/>
          </a:p>
          <a:p>
            <a:pPr algn="l"/>
            <a:r>
              <a:rPr sz="1200" b="0">
                <a:solidFill>
                  <a:srgbClr val="000000"/>
                </a:solidFill>
                <a:latin typeface="Arial"/>
              </a:rPr>
              <a:t>Sorting on FPGA is expensive</a:t>
            </a:r>
            <a:endParaRPr/>
          </a:p>
          <a:p>
            <a:pPr algn="l"/>
            <a:r>
              <a:rPr sz="1200" b="0">
                <a:solidFill>
                  <a:srgbClr val="000000"/>
                </a:solidFill>
                <a:latin typeface="Arial"/>
              </a:rPr>
              <a:t>(external sort needs DRAM).</a:t>
            </a:r>
            <a:endParaRPr/>
          </a:p>
          <a:p>
            <a:pPr algn="l"/>
            <a:endParaRPr sz="1200" b="0">
              <a:solidFill>
                <a:srgbClr val="000000"/>
              </a:solidFill>
              <a:latin typeface="Arial"/>
            </a:endParaRPr>
          </a:p>
          <a:p>
            <a:pPr algn="l"/>
            <a:r>
              <a:rPr sz="1200" b="0">
                <a:solidFill>
                  <a:srgbClr val="000000"/>
                </a:solidFill>
                <a:latin typeface="Arial"/>
              </a:rPr>
              <a:t>Cannot just "write and forget".</a:t>
            </a:r>
            <a:endParaRPr/>
          </a:p>
        </p:txBody>
      </p:sp>
      <p:sp>
        <p:nvSpPr>
          <p:cNvPr id="86" name="Rectangle 5"/>
          <p:cNvSpPr/>
          <p:nvPr/>
        </p:nvSpPr>
        <p:spPr>
          <a:xfrm>
            <a:off x="4250000" y="1900000"/>
            <a:ext cx="3500000" cy="2600000"/>
          </a:xfrm>
          <a:prstGeom prst="rect">
            <a:avLst/>
          </a:prstGeom>
          <a:solidFill>
            <a:srgbClr val="FCEBEB"/>
          </a:solidFill>
          <a:ln w="6350">
            <a:solidFill>
              <a:srgbClr val="A32D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A32D2D"/>
                </a:solidFill>
                <a:latin typeface="Arial"/>
              </a:rPr>
              <a:t>(2) Resource limits</a:t>
            </a:r>
            <a:endParaRPr/>
          </a:p>
          <a:p>
            <a:pPr algn="l"/>
            <a:endParaRPr sz="1400" b="1">
              <a:solidFill>
                <a:srgbClr val="A32D2D"/>
              </a:solidFill>
              <a:latin typeface="Arial"/>
            </a:endParaRPr>
          </a:p>
          <a:p>
            <a:pPr algn="l"/>
            <a:r>
              <a:rPr sz="1200" b="0">
                <a:solidFill>
                  <a:srgbClr val="000000"/>
                </a:solidFill>
                <a:latin typeface="Arial"/>
              </a:rPr>
              <a:t>FPGA DRAM: only ~4 GB.</a:t>
            </a:r>
            <a:endParaRPr/>
          </a:p>
          <a:p>
            <a:pPr algn="l"/>
            <a:r>
              <a:rPr sz="1200" b="0">
                <a:solidFill>
                  <a:srgbClr val="000000"/>
                </a:solidFill>
                <a:latin typeface="Arial"/>
              </a:rPr>
              <a:t>CU count: bounded by LUT/FF.</a:t>
            </a:r>
            <a:endParaRPr/>
          </a:p>
          <a:p>
            <a:pPr algn="l"/>
            <a:r>
              <a:rPr sz="1200" b="0">
                <a:solidFill>
                  <a:srgbClr val="000000"/>
                </a:solidFill>
                <a:latin typeface="Arial"/>
              </a:rPr>
              <a:t>Large WAL segments must be</a:t>
            </a:r>
            <a:endParaRPr/>
          </a:p>
          <a:p>
            <a:pPr algn="l"/>
            <a:r>
              <a:rPr sz="1200" b="0">
                <a:solidFill>
                  <a:srgbClr val="000000"/>
                </a:solidFill>
                <a:latin typeface="Arial"/>
              </a:rPr>
              <a:t>processed in bounded chunks.</a:t>
            </a:r>
            <a:endParaRPr/>
          </a:p>
          <a:p>
            <a:pPr algn="l"/>
            <a:endParaRPr sz="1200" b="0">
              <a:solidFill>
                <a:srgbClr val="000000"/>
              </a:solidFill>
              <a:latin typeface="Arial"/>
            </a:endParaRPr>
          </a:p>
          <a:p>
            <a:pPr algn="l"/>
            <a:r>
              <a:rPr sz="1200" b="0">
                <a:solidFill>
                  <a:srgbClr val="000000"/>
                </a:solidFill>
                <a:latin typeface="Arial"/>
              </a:rPr>
              <a:t>Unbounded input -&gt; device crash.</a:t>
            </a:r>
            <a:endParaRPr/>
          </a:p>
        </p:txBody>
      </p:sp>
      <p:sp>
        <p:nvSpPr>
          <p:cNvPr id="87" name="Rectangle 6"/>
          <p:cNvSpPr/>
          <p:nvPr/>
        </p:nvSpPr>
        <p:spPr>
          <a:xfrm>
            <a:off x="7950000" y="1900000"/>
            <a:ext cx="3500000" cy="2600000"/>
          </a:xfrm>
          <a:prstGeom prst="rect">
            <a:avLst/>
          </a:prstGeom>
          <a:solidFill>
            <a:srgbClr val="FCEBEB"/>
          </a:solidFill>
          <a:ln w="6350">
            <a:solidFill>
              <a:srgbClr val="A32D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A32D2D"/>
                </a:solidFill>
                <a:latin typeface="Arial"/>
              </a:rPr>
              <a:t>(3) Host-device sync</a:t>
            </a:r>
            <a:endParaRPr/>
          </a:p>
          <a:p>
            <a:pPr algn="l"/>
            <a:endParaRPr sz="1400" b="1">
              <a:solidFill>
                <a:srgbClr val="A32D2D"/>
              </a:solidFill>
              <a:latin typeface="Arial"/>
            </a:endParaRPr>
          </a:p>
          <a:p>
            <a:pPr algn="l"/>
            <a:r>
              <a:rPr sz="1200" b="0">
                <a:solidFill>
                  <a:srgbClr val="000000"/>
                </a:solidFill>
                <a:latin typeface="Arial"/>
              </a:rPr>
              <a:t>Host needs metadata back</a:t>
            </a:r>
            <a:endParaRPr/>
          </a:p>
          <a:p>
            <a:pPr algn="l"/>
            <a:r>
              <a:rPr sz="1200" b="0">
                <a:solidFill>
                  <a:srgbClr val="000000"/>
                </a:solidFill>
                <a:latin typeface="Arial"/>
              </a:rPr>
              <a:t>(new SSTable info, key range).</a:t>
            </a:r>
            <a:endParaRPr/>
          </a:p>
          <a:p>
            <a:pPr algn="l"/>
            <a:r>
              <a:rPr sz="1200" b="0">
                <a:solidFill>
                  <a:srgbClr val="000000"/>
                </a:solidFill>
                <a:latin typeface="Arial"/>
              </a:rPr>
              <a:t>Version conflicts: concurrent</a:t>
            </a:r>
            <a:endParaRPr/>
          </a:p>
          <a:p>
            <a:pPr algn="l"/>
            <a:r>
              <a:rPr sz="1200" b="0">
                <a:solidFill>
                  <a:srgbClr val="000000"/>
                </a:solidFill>
                <a:latin typeface="Arial"/>
              </a:rPr>
              <a:t>writes during compaction.</a:t>
            </a:r>
            <a:endParaRPr/>
          </a:p>
          <a:p>
            <a:pPr algn="l"/>
            <a:endParaRPr sz="1200" b="0">
              <a:solidFill>
                <a:srgbClr val="000000"/>
              </a:solidFill>
              <a:latin typeface="Arial"/>
            </a:endParaRPr>
          </a:p>
          <a:p>
            <a:pPr algn="l"/>
            <a:r>
              <a:rPr sz="1200" b="0">
                <a:solidFill>
                  <a:srgbClr val="000000"/>
                </a:solidFill>
                <a:latin typeface="Arial"/>
              </a:rPr>
              <a:t>Coordination without stalling.</a:t>
            </a:r>
            <a:endParaRPr/>
          </a:p>
        </p:txBody>
      </p:sp>
      <p:sp>
        <p:nvSpPr>
          <p:cNvPr id="88" name="TextBox 7"/>
          <p:cNvSpPr txBox="1"/>
          <p:nvPr/>
        </p:nvSpPr>
        <p:spPr>
          <a:xfrm>
            <a:off x="548640" y="4700000"/>
            <a:ext cx="11064240" cy="500000"/>
          </a:xfrm>
          <a:prstGeom prst="rect">
            <a:avLst/>
          </a:prstGeom>
          <a:noFill/>
        </p:spPr>
        <p:txBody>
          <a:bodyPr wrap="square">
            <a:spAutoFit/>
          </a:bodyPr>
          <a:lstStyle/>
          <a:p>
            <a:pPr/>
            <a:r>
              <a:rPr sz="1200" b="0">
                <a:solidFill>
                  <a:srgbClr val="888780"/>
                </a:solidFill>
                <a:latin typeface="Arial"/>
              </a:rPr>
              <a:t>ZeroFlush answers: (1) Partition index turns sort into seq-read  |  (2) Bounded partitions + CU scheduling  |  (3) One-shot index push + lazy validation</a:t>
            </a:r>
            <a:endParaRPr/>
          </a:p>
        </p:txBody>
      </p:sp>
      <p:sp>
        <p:nvSpPr>
          <p:cNvPr id="89" name="TextBox 8"/>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8</a:t>
            </a:r>
            <a:endParaR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90" name=""/>
        <p:cNvGrpSpPr/>
        <p:nvPr/>
      </p:nvGrpSpPr>
      <p:grpSpPr>
        <a:xfrm>
          <a:off x="0" y="0"/>
          <a:ext cx="0" cy="0"/>
          <a:chOff x="0" y="0"/>
          <a:chExt cx="0" cy="0"/>
        </a:xfrm>
      </p:grpSpPr>
      <p:sp>
        <p:nvSpPr>
          <p:cNvPr id="91"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5. ZeroFlush: System Overview</a:t>
            </a:r>
            <a:endParaRPr/>
          </a:p>
        </p:txBody>
      </p:sp>
      <p:cxnSp>
        <p:nvCxnSpPr>
          <p:cNvPr id="92"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93" name="TextBox 3"/>
          <p:cNvSpPr txBox="1"/>
          <p:nvPr/>
        </p:nvSpPr>
        <p:spPr>
          <a:xfrm>
            <a:off x="548640" y="1280160"/>
            <a:ext cx="11064240" cy="4754880"/>
          </a:xfrm>
          <a:prstGeom prst="rect">
            <a:avLst/>
          </a:prstGeom>
          <a:noFill/>
        </p:spPr>
        <p:txBody>
          <a:bodyPr wrap="square">
            <a:spAutoFit/>
          </a:bodyPr>
          <a:lstStyle/>
          <a:p>
            <a:pPr/>
            <a:r>
              <a:rPr sz="1800" b="1">
                <a:solidFill>
                  <a:srgbClr val="000000"/>
                </a:solidFill>
                <a:latin typeface="Arial"/>
              </a:rPr>
              <a:t>Host side (redesigned):</a:t>
            </a:r>
            <a:endParaRPr/>
          </a:p>
          <a:p>
            <a:pPr/>
            <a:r>
              <a:rPr sz="1600" b="0">
                <a:solidFill>
                  <a:srgbClr val="000000"/>
                </a:solidFill>
                <a:latin typeface="Arial"/>
              </a:rPr>
              <a:t>  - No MemTable. Replaced by lightweight Partition Index.</a:t>
            </a:r>
            <a:endParaRPr/>
          </a:p>
          <a:p>
            <a:pPr/>
            <a:r>
              <a:rPr sz="1600" b="0">
                <a:solidFill>
                  <a:srgbClr val="000000"/>
                </a:solidFill>
                <a:latin typeface="Arial"/>
              </a:rPr>
              <a:t>  - WAL written in partitions aligned to L1 key ranges.</a:t>
            </a:r>
            <a:endParaRPr/>
          </a:p>
          <a:p>
            <a:pPr/>
            <a:r>
              <a:rPr sz="1600" b="0">
                <a:solidFill>
                  <a:srgbClr val="000000"/>
                </a:solidFill>
                <a:latin typeface="Arial"/>
              </a:rPr>
              <a:t>  - Each WAL partition IS an L0 SSTable (no flush needed).</a:t>
            </a:r>
            <a:endParaRPr/>
          </a:p>
          <a:p>
            <a:pPr/>
            <a:r>
              <a:rPr sz="1600" b="0">
                <a:solidFill>
                  <a:srgbClr val="000000"/>
                </a:solidFill>
                <a:latin typeface="Arial"/>
              </a:rPr>
              <a:t>  - Small write cache (few MB) for hot reads.</a:t>
            </a:r>
            <a:endParaRPr/>
          </a:p>
          <a:p>
            <a:pPr/>
            <a:endParaRPr sz="1600" b="0">
              <a:solidFill>
                <a:srgbClr val="000000"/>
              </a:solidFill>
              <a:latin typeface="Arial"/>
            </a:endParaRPr>
          </a:p>
          <a:p>
            <a:pPr/>
            <a:r>
              <a:rPr sz="1800" b="1">
                <a:solidFill>
                  <a:srgbClr val="000000"/>
                </a:solidFill>
                <a:latin typeface="Arial"/>
              </a:rPr>
              <a:t>SmartSSD side (new):</a:t>
            </a:r>
            <a:endParaRPr/>
          </a:p>
          <a:p>
            <a:pPr/>
            <a:r>
              <a:rPr sz="1600" b="0">
                <a:solidFill>
                  <a:srgbClr val="000000"/>
                </a:solidFill>
                <a:latin typeface="Arial"/>
              </a:rPr>
              <a:t>  - CSD Merge Compaction Engine on FPGA.</a:t>
            </a:r>
            <a:endParaRPr/>
          </a:p>
          <a:p>
            <a:pPr/>
            <a:r>
              <a:rPr sz="1600" b="0">
                <a:solidFill>
                  <a:srgbClr val="000000"/>
                </a:solidFill>
                <a:latin typeface="Arial"/>
              </a:rPr>
              <a:t>  - Reads WAL partition by index order (no sorting).</a:t>
            </a:r>
            <a:endParaRPr/>
          </a:p>
          <a:p>
            <a:pPr/>
            <a:r>
              <a:rPr sz="1600" b="0">
                <a:solidFill>
                  <a:srgbClr val="000000"/>
                </a:solidFill>
                <a:latin typeface="Arial"/>
              </a:rPr>
              <a:t>  - Streaming merge with L1 SSTable -&gt; new L1.</a:t>
            </a:r>
            <a:endParaRPr/>
          </a:p>
          <a:p>
            <a:pPr/>
            <a:r>
              <a:rPr sz="1600" b="0">
                <a:solidFill>
                  <a:srgbClr val="000000"/>
                </a:solidFill>
                <a:latin typeface="Arial"/>
              </a:rPr>
              <a:t>  - P2P channel: all data movement stays inside SSD.</a:t>
            </a:r>
            <a:endParaRPr/>
          </a:p>
          <a:p>
            <a:pPr/>
            <a:endParaRPr sz="1600" b="0">
              <a:solidFill>
                <a:srgbClr val="000000"/>
              </a:solidFill>
              <a:latin typeface="Arial"/>
            </a:endParaRPr>
          </a:p>
          <a:p>
            <a:pPr/>
            <a:r>
              <a:rPr sz="1600" b="0">
                <a:solidFill>
                  <a:srgbClr val="0F6E56"/>
                </a:solidFill>
                <a:latin typeface="Arial"/>
              </a:rPr>
              <a:t>Philosophy: software-hardware synergy. Host writes once; CSD organizes.</a:t>
            </a:r>
            <a:endParaRPr/>
          </a:p>
        </p:txBody>
      </p:sp>
      <p:sp>
        <p:nvSpPr>
          <p:cNvPr id="94"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9</a:t>
            </a:r>
            <a:endParaR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5. Design (1): WAL Partitioning by L1 Key Ranges</a:t>
            </a:r>
            <a:endParaRPr/>
          </a:p>
        </p:txBody>
      </p:sp>
      <p:cxnSp>
        <p:nvCxnSpPr>
          <p:cNvPr id="7"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TextBox 3"/>
          <p:cNvSpPr txBox="1"/>
          <p:nvPr/>
        </p:nvSpPr>
        <p:spPr>
          <a:xfrm>
            <a:off x="548640" y="1280160"/>
            <a:ext cx="11064240" cy="4754880"/>
          </a:xfrm>
          <a:prstGeom prst="rect">
            <a:avLst/>
          </a:prstGeom>
          <a:noFill/>
        </p:spPr>
        <p:txBody>
          <a:bodyPr wrap="square">
            <a:spAutoFit/>
          </a:bodyPr>
          <a:lstStyle/>
          <a:p>
            <a:pPr/>
            <a:r>
              <a:rPr sz="1600" b="0">
                <a:solidFill>
                  <a:srgbClr val="000000"/>
                </a:solidFill>
                <a:latin typeface="Arial"/>
              </a:rPr>
              <a:t>Each Put(key, value) is routed to a WAL partition:</a:t>
            </a:r>
            <a:endParaRPr/>
          </a:p>
          <a:p>
            <a:pPr/>
            <a:r>
              <a:rPr sz="1600" b="0">
                <a:solidFill>
                  <a:srgbClr val="000000"/>
                </a:solidFill>
                <a:latin typeface="Arial"/>
              </a:rPr>
              <a:t>  partition_id = range_lookup(key, L1_boundaries)</a:t>
            </a:r>
            <a:endParaRPr/>
          </a:p>
          <a:p>
            <a:pPr/>
            <a:endParaRPr sz="1600" b="0">
              <a:solidFill>
                <a:srgbClr val="000000"/>
              </a:solidFill>
              <a:latin typeface="Arial"/>
            </a:endParaRPr>
          </a:p>
          <a:p>
            <a:pPr/>
            <a:r>
              <a:rPr sz="1600" b="0">
                <a:solidFill>
                  <a:srgbClr val="000000"/>
                </a:solidFill>
                <a:latin typeface="Arial"/>
              </a:rPr>
              <a:t>WAL is no longer a single append-only log.</a:t>
            </a:r>
            <a:endParaRPr/>
          </a:p>
          <a:p>
            <a:pPr/>
            <a:r>
              <a:rPr sz="1600" b="0">
                <a:solidFill>
                  <a:srgbClr val="000000"/>
                </a:solidFill>
                <a:latin typeface="Arial"/>
              </a:rPr>
              <a:t>It is N parallel logs, one per L1 key range:</a:t>
            </a:r>
            <a:endParaRPr/>
          </a:p>
          <a:p>
            <a:pPr/>
            <a:endParaRPr sz="1600" b="0">
              <a:solidFill>
                <a:srgbClr val="000000"/>
              </a:solidFill>
              <a:latin typeface="Arial"/>
            </a:endParaRPr>
          </a:p>
          <a:p>
            <a:pPr/>
            <a:r>
              <a:rPr sz="1600" b="0">
                <a:solidFill>
                  <a:srgbClr val="000000"/>
                </a:solidFill>
                <a:latin typeface="Arial"/>
              </a:rPr>
              <a:t>  WAL_0: keys in [a, f)    WAL_1: keys in [f, k)</a:t>
            </a:r>
            <a:endParaRPr/>
          </a:p>
          <a:p>
            <a:pPr/>
            <a:r>
              <a:rPr sz="1600" b="0">
                <a:solidFill>
                  <a:srgbClr val="000000"/>
                </a:solidFill>
                <a:latin typeface="Arial"/>
              </a:rPr>
              <a:t>  WAL_2: keys in [k, p)    WAL_3: keys in [p, z)</a:t>
            </a:r>
            <a:endParaRPr/>
          </a:p>
          <a:p>
            <a:pPr/>
            <a:endParaRPr sz="1600" b="0">
              <a:solidFill>
                <a:srgbClr val="000000"/>
              </a:solidFill>
              <a:latin typeface="Arial"/>
            </a:endParaRPr>
          </a:p>
          <a:p>
            <a:pPr/>
            <a:r>
              <a:rPr sz="1600" b="1">
                <a:solidFill>
                  <a:srgbClr val="000000"/>
                </a:solidFill>
                <a:latin typeface="Arial"/>
              </a:rPr>
              <a:t>Why this matters:</a:t>
            </a:r>
            <a:endParaRPr/>
          </a:p>
          <a:p>
            <a:pPr/>
            <a:r>
              <a:rPr sz="1600" b="0">
                <a:solidFill>
                  <a:srgbClr val="000000"/>
                </a:solidFill>
                <a:latin typeface="Arial"/>
              </a:rPr>
              <a:t>  - Each partition maps to a NON-OVERLAPPING key range</a:t>
            </a:r>
            <a:endParaRPr/>
          </a:p>
          <a:p>
            <a:pPr/>
            <a:r>
              <a:rPr sz="1600" b="0">
                <a:solidFill>
                  <a:srgbClr val="000000"/>
                </a:solidFill>
                <a:latin typeface="Arial"/>
              </a:rPr>
              <a:t>  - L0 overlap is eliminated at the source</a:t>
            </a:r>
            <a:endParaRPr/>
          </a:p>
          <a:p>
            <a:pPr/>
            <a:r>
              <a:rPr sz="1600" b="0">
                <a:solidFill>
                  <a:srgbClr val="000000"/>
                </a:solidFill>
                <a:latin typeface="Arial"/>
              </a:rPr>
              <a:t>  - Compaction becomes partition-aligned (one partition -&gt; one L1 region)</a:t>
            </a:r>
            <a:endParaRPr/>
          </a:p>
          <a:p>
            <a:pPr/>
            <a:endParaRPr sz="1600" b="0">
              <a:solidFill>
                <a:srgbClr val="000000"/>
              </a:solidFill>
              <a:latin typeface="Arial"/>
            </a:endParaRPr>
          </a:p>
          <a:p>
            <a:pPr/>
            <a:r>
              <a:rPr sz="1400" b="0">
                <a:solidFill>
                  <a:srgbClr val="888780"/>
                </a:solidFill>
                <a:latin typeface="Arial"/>
              </a:rPr>
              <a:t>Overhead: one range lookup per Put (&lt; 10ns with a small B-tree of boundaries).</a:t>
            </a:r>
            <a:endParaRPr/>
          </a:p>
        </p:txBody>
      </p:sp>
      <p:sp>
        <p:nvSpPr>
          <p:cNvPr id="9"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10</a:t>
            </a:r>
            <a:endParaR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0" name=""/>
        <p:cNvGrpSpPr/>
        <p:nvPr/>
      </p:nvGrpSpPr>
      <p:grpSpPr>
        <a:xfrm>
          <a:off x="0" y="0"/>
          <a:ext cx="0" cy="0"/>
          <a:chOff x="0" y="0"/>
          <a:chExt cx="0" cy="0"/>
        </a:xfrm>
      </p:grpSpPr>
      <p:sp>
        <p:nvSpPr>
          <p:cNvPr id="11"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5. Design (2): WAL = L0 (Flush Eliminated)</a:t>
            </a:r>
            <a:endParaRPr/>
          </a:p>
        </p:txBody>
      </p:sp>
      <p:cxnSp>
        <p:nvCxnSpPr>
          <p:cNvPr id="12"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3"/>
          <p:cNvSpPr txBox="1"/>
          <p:nvPr/>
        </p:nvSpPr>
        <p:spPr>
          <a:xfrm>
            <a:off x="548640" y="1280160"/>
            <a:ext cx="11064240" cy="4754880"/>
          </a:xfrm>
          <a:prstGeom prst="rect">
            <a:avLst/>
          </a:prstGeom>
          <a:noFill/>
        </p:spPr>
        <p:txBody>
          <a:bodyPr wrap="square">
            <a:spAutoFit/>
          </a:bodyPr>
          <a:lstStyle/>
          <a:p>
            <a:pPr/>
            <a:r>
              <a:rPr sz="1600" b="1">
                <a:solidFill>
                  <a:srgbClr val="000000"/>
                </a:solidFill>
                <a:latin typeface="Arial"/>
              </a:rPr>
              <a:t>Traditional path:</a:t>
            </a:r>
            <a:endParaRPr/>
          </a:p>
          <a:p>
            <a:pPr/>
            <a:r>
              <a:rPr sz="1500" b="0">
                <a:solidFill>
                  <a:srgbClr val="000000"/>
                </a:solidFill>
                <a:latin typeface="Arial"/>
              </a:rPr>
              <a:t>  Put -&gt; WAL (NAND write #1) -&gt; MemTable -&gt; Flush -&gt; L0 SSTable (NAND write #2)</a:t>
            </a:r>
            <a:endParaRPr/>
          </a:p>
          <a:p>
            <a:pPr/>
            <a:endParaRPr sz="1500" b="0">
              <a:solidFill>
                <a:srgbClr val="000000"/>
              </a:solidFill>
              <a:latin typeface="Arial"/>
            </a:endParaRPr>
          </a:p>
          <a:p>
            <a:pPr/>
            <a:r>
              <a:rPr sz="1600" b="1">
                <a:solidFill>
                  <a:srgbClr val="000000"/>
                </a:solidFill>
                <a:latin typeface="Arial"/>
              </a:rPr>
              <a:t>ZeroFlush path:</a:t>
            </a:r>
            <a:endParaRPr/>
          </a:p>
          <a:p>
            <a:pPr/>
            <a:r>
              <a:rPr sz="1500" b="0">
                <a:solidFill>
                  <a:srgbClr val="000000"/>
                </a:solidFill>
                <a:latin typeface="Arial"/>
              </a:rPr>
              <a:t>  Put -&gt; WAL partition (NAND write #1) -&gt; [partition IS the L0 SSTable]</a:t>
            </a:r>
            <a:endParaRPr/>
          </a:p>
          <a:p>
            <a:pPr/>
            <a:endParaRPr sz="1500" b="0">
              <a:solidFill>
                <a:srgbClr val="000000"/>
              </a:solidFill>
              <a:latin typeface="Arial"/>
            </a:endParaRPr>
          </a:p>
          <a:p>
            <a:pPr/>
            <a:r>
              <a:rPr sz="1800" b="0">
                <a:solidFill>
                  <a:srgbClr val="0F6E56"/>
                </a:solidFill>
                <a:latin typeface="Arial"/>
              </a:rPr>
              <a:t>Write amplification: 3x -&gt; 2x (flush write eliminated).</a:t>
            </a:r>
            <a:endParaRPr/>
          </a:p>
          <a:p>
            <a:pPr/>
            <a:endParaRPr sz="1800" b="0">
              <a:solidFill>
                <a:srgbClr val="0F6E56"/>
              </a:solidFill>
              <a:latin typeface="Arial"/>
            </a:endParaRPr>
          </a:p>
          <a:p>
            <a:pPr/>
            <a:r>
              <a:rPr sz="1600" b="1">
                <a:solidFill>
                  <a:srgbClr val="000000"/>
                </a:solidFill>
                <a:latin typeface="Arial"/>
              </a:rPr>
              <a:t>What changes:</a:t>
            </a:r>
            <a:endParaRPr/>
          </a:p>
          <a:p>
            <a:pPr/>
            <a:r>
              <a:rPr sz="1500" b="0">
                <a:solidFill>
                  <a:srgbClr val="000000"/>
                </a:solidFill>
                <a:latin typeface="Arial"/>
              </a:rPr>
              <a:t>  - No MemTable (replaced by partition index, ~40B/entry)</a:t>
            </a:r>
            <a:endParaRPr/>
          </a:p>
          <a:p>
            <a:pPr/>
            <a:r>
              <a:rPr sz="1500" b="0">
                <a:solidFill>
                  <a:srgbClr val="000000"/>
                </a:solidFill>
                <a:latin typeface="Arial"/>
              </a:rPr>
              <a:t>  - No flush thread (no CPU for sort + encode + write)</a:t>
            </a:r>
            <a:endParaRPr/>
          </a:p>
          <a:p>
            <a:pPr/>
            <a:r>
              <a:rPr sz="1500" b="0">
                <a:solidFill>
                  <a:srgbClr val="000000"/>
                </a:solidFill>
                <a:latin typeface="Arial"/>
              </a:rPr>
              <a:t>  - No flush I/O (no PCIe, no NAND write)</a:t>
            </a:r>
            <a:endParaRPr/>
          </a:p>
          <a:p>
            <a:pPr/>
            <a:r>
              <a:rPr sz="1500" b="0">
                <a:solidFill>
                  <a:srgbClr val="000000"/>
                </a:solidFill>
                <a:latin typeface="Arial"/>
              </a:rPr>
              <a:t>  - L0 is born non-overlapping (from partitioning)</a:t>
            </a:r>
            <a:endParaRPr/>
          </a:p>
          <a:p>
            <a:pPr/>
            <a:endParaRPr sz="1500" b="0">
              <a:solidFill>
                <a:srgbClr val="000000"/>
              </a:solidFill>
              <a:latin typeface="Arial"/>
            </a:endParaRPr>
          </a:p>
          <a:p>
            <a:pPr/>
            <a:r>
              <a:rPr sz="1600" b="1">
                <a:solidFill>
                  <a:srgbClr val="000000"/>
                </a:solidFill>
                <a:latin typeface="Arial"/>
              </a:rPr>
              <a:t>What stays the same:</a:t>
            </a:r>
            <a:endParaRPr/>
          </a:p>
          <a:p>
            <a:pPr/>
            <a:r>
              <a:rPr sz="1500" b="0">
                <a:solidFill>
                  <a:srgbClr val="000000"/>
                </a:solidFill>
                <a:latin typeface="Arial"/>
              </a:rPr>
              <a:t>  - WAL still guarantees durability (append-only, sequential)</a:t>
            </a:r>
            <a:endParaRPr/>
          </a:p>
          <a:p>
            <a:pPr/>
            <a:r>
              <a:rPr sz="1500" b="0">
                <a:solidFill>
                  <a:srgbClr val="000000"/>
                </a:solidFill>
                <a:latin typeface="Arial"/>
              </a:rPr>
              <a:t>  - Crash recovery: re-scan WAL partitions (no MemTable rebuild needed)</a:t>
            </a:r>
            <a:endParaRPr/>
          </a:p>
        </p:txBody>
      </p:sp>
      <p:sp>
        <p:nvSpPr>
          <p:cNvPr id="14"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11</a:t>
            </a:r>
            <a:endParaR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5" name=""/>
        <p:cNvGrpSpPr/>
        <p:nvPr/>
      </p:nvGrpSpPr>
      <p:grpSpPr>
        <a:xfrm>
          <a:off x="0" y="0"/>
          <a:ext cx="0" cy="0"/>
          <a:chOff x="0" y="0"/>
          <a:chExt cx="0" cy="0"/>
        </a:xfrm>
      </p:grpSpPr>
      <p:sp>
        <p:nvSpPr>
          <p:cNvPr id="16"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5. Design (3): Partition Index</a:t>
            </a:r>
            <a:endParaRPr/>
          </a:p>
        </p:txBody>
      </p:sp>
      <p:cxnSp>
        <p:nvCxnSpPr>
          <p:cNvPr id="17"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TextBox 3"/>
          <p:cNvSpPr txBox="1"/>
          <p:nvPr/>
        </p:nvSpPr>
        <p:spPr>
          <a:xfrm>
            <a:off x="548640" y="1280160"/>
            <a:ext cx="11064240" cy="4754880"/>
          </a:xfrm>
          <a:prstGeom prst="rect">
            <a:avLst/>
          </a:prstGeom>
          <a:noFill/>
        </p:spPr>
        <p:txBody>
          <a:bodyPr wrap="square">
            <a:spAutoFit/>
          </a:bodyPr>
          <a:lstStyle/>
          <a:p>
            <a:pPr/>
            <a:r>
              <a:rPr sz="1500" b="0">
                <a:solidFill>
                  <a:srgbClr val="000000"/>
                </a:solidFill>
                <a:latin typeface="Arial"/>
              </a:rPr>
              <a:t>Per-partition sorted index maintained in host memory:</a:t>
            </a:r>
            <a:endParaRPr/>
          </a:p>
          <a:p>
            <a:pPr/>
            <a:r>
              <a:rPr sz="1500" b="0">
                <a:solidFill>
                  <a:srgbClr val="000000"/>
                </a:solidFill>
                <a:latin typeface="Arial"/>
              </a:rPr>
              <a:t>  entry = (key, wal_offset, seq_number)  ~40 bytes</a:t>
            </a:r>
            <a:endParaRPr/>
          </a:p>
          <a:p>
            <a:pPr/>
            <a:endParaRPr sz="1500" b="0">
              <a:solidFill>
                <a:srgbClr val="000000"/>
              </a:solidFill>
              <a:latin typeface="Arial"/>
            </a:endParaRPr>
          </a:p>
          <a:p>
            <a:pPr/>
            <a:r>
              <a:rPr sz="1600" b="1">
                <a:solidFill>
                  <a:srgbClr val="000000"/>
                </a:solidFill>
                <a:latin typeface="Arial"/>
              </a:rPr>
              <a:t>What it replaces:</a:t>
            </a:r>
            <a:endParaRPr/>
          </a:p>
          <a:p>
            <a:pPr/>
            <a:r>
              <a:rPr sz="1500" b="0">
                <a:solidFill>
                  <a:srgbClr val="000000"/>
                </a:solidFill>
                <a:latin typeface="Arial"/>
              </a:rPr>
              <a:t>  MemTable (skiplist storing full KV): 64-256 MB</a:t>
            </a:r>
            <a:endParaRPr/>
          </a:p>
          <a:p>
            <a:pPr/>
            <a:r>
              <a:rPr sz="1500" b="0">
                <a:solidFill>
                  <a:srgbClr val="000000"/>
                </a:solidFill>
                <a:latin typeface="Arial"/>
              </a:rPr>
              <a:t>  Partition Index (pointers only):     ~2-10 MB</a:t>
            </a:r>
            <a:endParaRPr/>
          </a:p>
          <a:p>
            <a:pPr/>
            <a:r>
              <a:rPr sz="1600" b="0">
                <a:solidFill>
                  <a:srgbClr val="0F6E56"/>
                </a:solidFill>
                <a:latin typeface="Arial"/>
              </a:rPr>
              <a:t>  Memory reduction: ~96%</a:t>
            </a:r>
            <a:endParaRPr/>
          </a:p>
          <a:p>
            <a:pPr/>
            <a:endParaRPr sz="1600" b="0">
              <a:solidFill>
                <a:srgbClr val="0F6E56"/>
              </a:solidFill>
              <a:latin typeface="Arial"/>
            </a:endParaRPr>
          </a:p>
          <a:p>
            <a:pPr/>
            <a:r>
              <a:rPr sz="1600" b="1">
                <a:solidFill>
                  <a:srgbClr val="000000"/>
                </a:solidFill>
                <a:latin typeface="Arial"/>
              </a:rPr>
              <a:t>How it enables CSD compaction:</a:t>
            </a:r>
            <a:endParaRPr/>
          </a:p>
          <a:p>
            <a:pPr/>
            <a:r>
              <a:rPr sz="1500" b="0">
                <a:solidFill>
                  <a:srgbClr val="000000"/>
                </a:solidFill>
                <a:latin typeface="Arial"/>
              </a:rPr>
              <a:t>  - Push index to CSD once at compaction trigger (~few MB)</a:t>
            </a:r>
            <a:endParaRPr/>
          </a:p>
          <a:p>
            <a:pPr/>
            <a:r>
              <a:rPr sz="1500" b="0">
                <a:solidFill>
                  <a:srgbClr val="000000"/>
                </a:solidFill>
                <a:latin typeface="Arial"/>
              </a:rPr>
              <a:t>  - CSD reads WAL entries IN INDEX ORDER -&gt; sorted output stream</a:t>
            </a:r>
            <a:endParaRPr/>
          </a:p>
          <a:p>
            <a:pPr/>
            <a:r>
              <a:rPr sz="1500" b="0">
                <a:solidFill>
                  <a:srgbClr val="000000"/>
                </a:solidFill>
                <a:latin typeface="Arial"/>
              </a:rPr>
              <a:t>  - Sorting is replaced by sequential random reads</a:t>
            </a:r>
            <a:endParaRPr/>
          </a:p>
          <a:p>
            <a:pPr/>
            <a:r>
              <a:rPr sz="1500" b="0">
                <a:solidFill>
                  <a:srgbClr val="000000"/>
                </a:solidFill>
                <a:latin typeface="Arial"/>
              </a:rPr>
              <a:t>  - CSD internal P2P random read: &lt; 10 us, no PCIe</a:t>
            </a:r>
            <a:endParaRPr/>
          </a:p>
          <a:p>
            <a:pPr/>
            <a:endParaRPr sz="1500" b="0">
              <a:solidFill>
                <a:srgbClr val="000000"/>
              </a:solidFill>
              <a:latin typeface="Arial"/>
            </a:endParaRPr>
          </a:p>
          <a:p>
            <a:pPr/>
            <a:r>
              <a:rPr sz="1600" b="1">
                <a:solidFill>
                  <a:srgbClr val="000000"/>
                </a:solidFill>
                <a:latin typeface="Arial"/>
              </a:rPr>
              <a:t>Read path:</a:t>
            </a:r>
            <a:endParaRPr/>
          </a:p>
          <a:p>
            <a:pPr/>
            <a:r>
              <a:rPr sz="1500" b="0">
                <a:solidFill>
                  <a:srgbClr val="000000"/>
                </a:solidFill>
                <a:latin typeface="Arial"/>
              </a:rPr>
              <a:t>  Get(key) -&gt; check partition index -&gt; read WAL at offset</a:t>
            </a:r>
            <a:endParaRPr/>
          </a:p>
          <a:p>
            <a:pPr/>
            <a:r>
              <a:rPr sz="1500" b="0">
                <a:solidFill>
                  <a:srgbClr val="000000"/>
                </a:solidFill>
                <a:latin typeface="Arial"/>
              </a:rPr>
              <a:t>  Hot keys: served from write cache (few MB LRU)</a:t>
            </a:r>
            <a:endParaRPr/>
          </a:p>
        </p:txBody>
      </p:sp>
      <p:sp>
        <p:nvSpPr>
          <p:cNvPr id="19"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12</a:t>
            </a:r>
            <a:endParaRP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20" name=""/>
        <p:cNvGrpSpPr/>
        <p:nvPr/>
      </p:nvGrpSpPr>
      <p:grpSpPr>
        <a:xfrm>
          <a:off x="0" y="0"/>
          <a:ext cx="0" cy="0"/>
          <a:chOff x="0" y="0"/>
          <a:chExt cx="0" cy="0"/>
        </a:xfrm>
      </p:grpSpPr>
      <p:sp>
        <p:nvSpPr>
          <p:cNvPr id="21"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5. Design (4): CSD Merge Compaction</a:t>
            </a:r>
            <a:endParaRPr/>
          </a:p>
        </p:txBody>
      </p:sp>
      <p:cxnSp>
        <p:nvCxnSpPr>
          <p:cNvPr id="22"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23" name="TextBox 3"/>
          <p:cNvSpPr txBox="1"/>
          <p:nvPr/>
        </p:nvSpPr>
        <p:spPr>
          <a:xfrm>
            <a:off x="548640" y="1280160"/>
            <a:ext cx="11064240" cy="4754880"/>
          </a:xfrm>
          <a:prstGeom prst="rect">
            <a:avLst/>
          </a:prstGeom>
          <a:noFill/>
        </p:spPr>
        <p:txBody>
          <a:bodyPr wrap="square">
            <a:spAutoFit/>
          </a:bodyPr>
          <a:lstStyle/>
          <a:p>
            <a:pPr/>
            <a:r>
              <a:rPr sz="1600" b="1">
                <a:solidFill>
                  <a:srgbClr val="000000"/>
                </a:solidFill>
                <a:latin typeface="Arial"/>
              </a:rPr>
              <a:t>Trigger:</a:t>
            </a:r>
            <a:endParaRPr/>
          </a:p>
          <a:p>
            <a:pPr/>
            <a:r>
              <a:rPr sz="1500" b="0">
                <a:solidFill>
                  <a:srgbClr val="000000"/>
                </a:solidFill>
                <a:latin typeface="Arial"/>
              </a:rPr>
              <a:t>  Host pushes partition index + L1 SSTable metadata to CSD</a:t>
            </a:r>
            <a:endParaRPr/>
          </a:p>
          <a:p>
            <a:pPr/>
            <a:r>
              <a:rPr sz="1500" b="0">
                <a:solidFill>
                  <a:srgbClr val="000000"/>
                </a:solidFill>
                <a:latin typeface="Arial"/>
              </a:rPr>
              <a:t>  One PCIe transfer (few MB), then CSD runs autonomously</a:t>
            </a:r>
            <a:endParaRPr/>
          </a:p>
          <a:p>
            <a:pPr/>
            <a:endParaRPr sz="1500" b="0">
              <a:solidFill>
                <a:srgbClr val="000000"/>
              </a:solidFill>
              <a:latin typeface="Arial"/>
            </a:endParaRPr>
          </a:p>
          <a:p>
            <a:pPr/>
            <a:r>
              <a:rPr sz="1600" b="1">
                <a:solidFill>
                  <a:srgbClr val="000000"/>
                </a:solidFill>
                <a:latin typeface="Arial"/>
              </a:rPr>
              <a:t>CSD pipeline (FPGA):</a:t>
            </a:r>
            <a:endParaRPr/>
          </a:p>
          <a:p>
            <a:pPr/>
            <a:r>
              <a:rPr sz="1500" b="0">
                <a:solidFill>
                  <a:srgbClr val="000000"/>
                </a:solidFill>
                <a:latin typeface="Arial"/>
              </a:rPr>
              <a:t>  Stage 1: P2P Read WAL partition (by index order) -&gt; sorted KV stream</a:t>
            </a:r>
            <a:endParaRPr/>
          </a:p>
          <a:p>
            <a:pPr/>
            <a:r>
              <a:rPr sz="1500" b="0">
                <a:solidFill>
                  <a:srgbClr val="000000"/>
                </a:solidFill>
                <a:latin typeface="Arial"/>
              </a:rPr>
              <a:t>  Stage 2: P2P Read L1 SSTable (sequential) -&gt; sorted KV stream</a:t>
            </a:r>
            <a:endParaRPr/>
          </a:p>
          <a:p>
            <a:pPr/>
            <a:r>
              <a:rPr sz="1500" b="0">
                <a:solidFill>
                  <a:srgbClr val="000000"/>
                </a:solidFill>
                <a:latin typeface="Arial"/>
              </a:rPr>
              <a:t>  Stage 3: Two-way merge (compare keys, dedup by seq_number)</a:t>
            </a:r>
            <a:endParaRPr/>
          </a:p>
          <a:p>
            <a:pPr/>
            <a:r>
              <a:rPr sz="1500" b="0">
                <a:solidFill>
                  <a:srgbClr val="000000"/>
                </a:solidFill>
                <a:latin typeface="Arial"/>
              </a:rPr>
              <a:t>  Stage 4: Encode new L1 SSTable (blocks + index + bloom filter)</a:t>
            </a:r>
            <a:endParaRPr/>
          </a:p>
          <a:p>
            <a:pPr/>
            <a:r>
              <a:rPr sz="1500" b="0">
                <a:solidFill>
                  <a:srgbClr val="000000"/>
                </a:solidFill>
                <a:latin typeface="Arial"/>
              </a:rPr>
              <a:t>  Stage 5: P2P Write new L1 SSTable to NAND</a:t>
            </a:r>
            <a:endParaRPr/>
          </a:p>
          <a:p>
            <a:pPr/>
            <a:endParaRPr sz="1500" b="0">
              <a:solidFill>
                <a:srgbClr val="000000"/>
              </a:solidFill>
              <a:latin typeface="Arial"/>
            </a:endParaRPr>
          </a:p>
          <a:p>
            <a:pPr/>
            <a:r>
              <a:rPr sz="1600" b="0">
                <a:solidFill>
                  <a:srgbClr val="0F6E56"/>
                </a:solidFill>
                <a:latin typeface="Arial"/>
              </a:rPr>
              <a:t>Zero PCIe for data. Zero host CPU for sort/merge/encode.</a:t>
            </a:r>
            <a:endParaRPr/>
          </a:p>
          <a:p>
            <a:pPr/>
            <a:endParaRPr sz="1600" b="0">
              <a:solidFill>
                <a:srgbClr val="0F6E56"/>
              </a:solidFill>
              <a:latin typeface="Arial"/>
            </a:endParaRPr>
          </a:p>
          <a:p>
            <a:pPr/>
            <a:r>
              <a:rPr sz="1600" b="1">
                <a:solidFill>
                  <a:srgbClr val="000000"/>
                </a:solidFill>
                <a:latin typeface="Arial"/>
              </a:rPr>
              <a:t>Completion:</a:t>
            </a:r>
            <a:endParaRPr/>
          </a:p>
          <a:p>
            <a:pPr/>
            <a:r>
              <a:rPr sz="1500" b="0">
                <a:solidFill>
                  <a:srgbClr val="000000"/>
                </a:solidFill>
                <a:latin typeface="Arial"/>
              </a:rPr>
              <a:t>  CSD returns metadata (new SSTable key range, size, bloom filter)</a:t>
            </a:r>
            <a:endParaRPr/>
          </a:p>
          <a:p>
            <a:pPr/>
            <a:r>
              <a:rPr sz="1500" b="0">
                <a:solidFill>
                  <a:srgbClr val="000000"/>
                </a:solidFill>
                <a:latin typeface="Arial"/>
              </a:rPr>
              <a:t>  Host atomically swaps L1 pointer. Old files marked for deletion.</a:t>
            </a:r>
            <a:endParaRPr/>
          </a:p>
        </p:txBody>
      </p:sp>
      <p:sp>
        <p:nvSpPr>
          <p:cNvPr id="24"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13</a:t>
            </a:r>
            <a:endParaR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25" name=""/>
        <p:cNvGrpSpPr/>
        <p:nvPr/>
      </p:nvGrpSpPr>
      <p:grpSpPr>
        <a:xfrm>
          <a:off x="0" y="0"/>
          <a:ext cx="0" cy="0"/>
          <a:chOff x="0" y="0"/>
          <a:chExt cx="0" cy="0"/>
        </a:xfrm>
      </p:grpSpPr>
      <p:sp>
        <p:nvSpPr>
          <p:cNvPr id="26"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5. Write Path: Traditional vs ZeroFlush</a:t>
            </a:r>
            <a:endParaRPr/>
          </a:p>
        </p:txBody>
      </p:sp>
      <p:cxnSp>
        <p:nvCxnSpPr>
          <p:cNvPr id="27"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Rectangle 3"/>
          <p:cNvSpPr/>
          <p:nvPr/>
        </p:nvSpPr>
        <p:spPr>
          <a:xfrm>
            <a:off x="548640" y="1400000"/>
            <a:ext cx="5200000" cy="3800000"/>
          </a:xfrm>
          <a:prstGeom prst="rect">
            <a:avLst/>
          </a:prstGeom>
          <a:solidFill>
            <a:srgbClr val="FCEBEB"/>
          </a:solidFill>
          <a:ln w="6350">
            <a:solidFill>
              <a:srgbClr val="A32D2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A32D2D"/>
                </a:solidFill>
                <a:latin typeface="Arial"/>
              </a:rPr>
              <a:t>Traditional (RocksDB)</a:t>
            </a:r>
            <a:endParaRPr/>
          </a:p>
          <a:p>
            <a:pPr algn="l"/>
            <a:endParaRPr sz="1600" b="1">
              <a:solidFill>
                <a:srgbClr val="A32D2D"/>
              </a:solidFill>
              <a:latin typeface="Arial"/>
            </a:endParaRPr>
          </a:p>
          <a:p>
            <a:pPr algn="l"/>
            <a:r>
              <a:rPr sz="1300" b="0">
                <a:solidFill>
                  <a:srgbClr val="000000"/>
                </a:solidFill>
                <a:latin typeface="Arial"/>
              </a:rPr>
              <a:t>Put -&gt; WAL append        [NAND 1x, PCIe 1x]</a:t>
            </a:r>
            <a:endParaRPr/>
          </a:p>
          <a:p>
            <a:pPr algn="l"/>
            <a:r>
              <a:rPr sz="1300" b="0">
                <a:solidFill>
                  <a:srgbClr val="000000"/>
                </a:solidFill>
                <a:latin typeface="Arial"/>
              </a:rPr>
              <a:t>     -&gt; MemTable insert   [CPU sort, 64-256MB]</a:t>
            </a:r>
            <a:endParaRPr/>
          </a:p>
          <a:p>
            <a:pPr algn="l"/>
            <a:r>
              <a:rPr sz="1300" b="0">
                <a:solidFill>
                  <a:srgbClr val="000000"/>
                </a:solidFill>
                <a:latin typeface="Arial"/>
              </a:rPr>
              <a:t>     -&gt; Flush             [NAND 1x, PCIe 1x, CPU encode]</a:t>
            </a:r>
            <a:endParaRPr/>
          </a:p>
          <a:p>
            <a:pPr algn="l"/>
            <a:r>
              <a:rPr sz="1300" b="0">
                <a:solidFill>
                  <a:srgbClr val="000000"/>
                </a:solidFill>
                <a:latin typeface="Arial"/>
              </a:rPr>
              <a:t>     -&gt; L0 SSTable (overlapping)</a:t>
            </a:r>
            <a:endParaRPr/>
          </a:p>
          <a:p>
            <a:pPr algn="l"/>
            <a:r>
              <a:rPr sz="1300" b="0">
                <a:solidFill>
                  <a:srgbClr val="000000"/>
                </a:solidFill>
                <a:latin typeface="Arial"/>
              </a:rPr>
              <a:t>     -&gt; L0-L1 Compaction  [NAND 2x, PCIe 2x, CPU merge]</a:t>
            </a:r>
            <a:endParaRPr/>
          </a:p>
          <a:p>
            <a:pPr algn="l"/>
            <a:endParaRPr sz="1300" b="0">
              <a:solidFill>
                <a:srgbClr val="000000"/>
              </a:solidFill>
              <a:latin typeface="Arial"/>
            </a:endParaRPr>
          </a:p>
          <a:p>
            <a:pPr algn="l"/>
            <a:r>
              <a:rPr sz="1300" b="0">
                <a:solidFill>
                  <a:srgbClr val="000000"/>
                </a:solidFill>
                <a:latin typeface="Arial"/>
              </a:rPr>
              <a:t>NAND writes:  3x (WAL + flush + compaction)</a:t>
            </a:r>
            <a:endParaRPr/>
          </a:p>
          <a:p>
            <a:pPr algn="l"/>
            <a:r>
              <a:rPr sz="1300" b="0">
                <a:solidFill>
                  <a:srgbClr val="000000"/>
                </a:solidFill>
                <a:latin typeface="Arial"/>
              </a:rPr>
              <a:t>PCIe traffic: 4x data crossings</a:t>
            </a:r>
            <a:endParaRPr/>
          </a:p>
          <a:p>
            <a:pPr algn="l"/>
            <a:r>
              <a:rPr sz="1300" b="0">
                <a:solidFill>
                  <a:srgbClr val="000000"/>
                </a:solidFill>
                <a:latin typeface="Arial"/>
              </a:rPr>
              <a:t>CPU: sort + encode + merge</a:t>
            </a:r>
            <a:endParaRPr/>
          </a:p>
          <a:p>
            <a:pPr algn="l"/>
            <a:r>
              <a:rPr sz="1300" b="0">
                <a:solidFill>
                  <a:srgbClr val="000000"/>
                </a:solidFill>
                <a:latin typeface="Arial"/>
              </a:rPr>
              <a:t>Memory: 64-256 MB MemTable</a:t>
            </a:r>
            <a:endParaRPr/>
          </a:p>
          <a:p>
            <a:pPr algn="l"/>
            <a:r>
              <a:rPr sz="1300" b="0">
                <a:solidFill>
                  <a:srgbClr val="000000"/>
                </a:solidFill>
                <a:latin typeface="Arial"/>
              </a:rPr>
              <a:t>L0 overlap: YES</a:t>
            </a:r>
            <a:endParaRPr/>
          </a:p>
          <a:p>
            <a:pPr algn="l"/>
            <a:r>
              <a:rPr sz="1300" b="0">
                <a:solidFill>
                  <a:srgbClr val="000000"/>
                </a:solidFill>
                <a:latin typeface="Arial"/>
              </a:rPr>
              <a:t>Write stall: possible</a:t>
            </a:r>
            <a:endParaRPr/>
          </a:p>
        </p:txBody>
      </p:sp>
      <p:sp>
        <p:nvSpPr>
          <p:cNvPr id="29" name="Rectangle 4"/>
          <p:cNvSpPr/>
          <p:nvPr/>
        </p:nvSpPr>
        <p:spPr>
          <a:xfrm>
            <a:off x="6000000" y="1400000"/>
            <a:ext cx="5600000" cy="3800000"/>
          </a:xfrm>
          <a:prstGeom prst="rect">
            <a:avLst/>
          </a:prstGeom>
          <a:solidFill>
            <a:srgbClr val="E1F5EE"/>
          </a:solidFill>
          <a:ln w="6350">
            <a:solidFill>
              <a:srgbClr val="0F6E5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F6E56"/>
                </a:solidFill>
                <a:latin typeface="Arial"/>
              </a:rPr>
              <a:t>ZeroFlush</a:t>
            </a:r>
            <a:endParaRPr/>
          </a:p>
          <a:p>
            <a:pPr algn="l"/>
            <a:endParaRPr sz="1600" b="1">
              <a:solidFill>
                <a:srgbClr val="0F6E56"/>
              </a:solidFill>
              <a:latin typeface="Arial"/>
            </a:endParaRPr>
          </a:p>
          <a:p>
            <a:pPr algn="l"/>
            <a:r>
              <a:rPr sz="1300" b="0">
                <a:solidFill>
                  <a:srgbClr val="000000"/>
                </a:solidFill>
                <a:latin typeface="Arial"/>
              </a:rPr>
              <a:t>Put -&gt; WAL partition append [NAND 1x, PCIe 1x]</a:t>
            </a:r>
            <a:endParaRPr/>
          </a:p>
          <a:p>
            <a:pPr algn="l"/>
            <a:r>
              <a:rPr sz="1300" b="0">
                <a:solidFill>
                  <a:srgbClr val="000000"/>
                </a:solidFill>
                <a:latin typeface="Arial"/>
              </a:rPr>
              <a:t>     -&gt; Index update        [CPU O(log n), ~40B/entry]</a:t>
            </a:r>
            <a:endParaRPr/>
          </a:p>
          <a:p>
            <a:pPr algn="l"/>
            <a:r>
              <a:rPr sz="1300" b="0">
                <a:solidFill>
                  <a:srgbClr val="000000"/>
                </a:solidFill>
                <a:latin typeface="Arial"/>
              </a:rPr>
              <a:t>     -&gt; [partition IS L0, no flush]</a:t>
            </a:r>
            <a:endParaRPr/>
          </a:p>
          <a:p>
            <a:pPr algn="l"/>
            <a:r>
              <a:rPr sz="1300" b="0">
                <a:solidFill>
                  <a:srgbClr val="000000"/>
                </a:solidFill>
                <a:latin typeface="Arial"/>
              </a:rPr>
              <a:t>     -&gt; CSD Compaction      [NAND 2x, PCIe 0x, CPU 0]</a:t>
            </a:r>
            <a:endParaRPr/>
          </a:p>
          <a:p>
            <a:pPr algn="l"/>
            <a:endParaRPr sz="1300" b="0">
              <a:solidFill>
                <a:srgbClr val="000000"/>
              </a:solidFill>
              <a:latin typeface="Arial"/>
            </a:endParaRPr>
          </a:p>
          <a:p>
            <a:pPr algn="l"/>
            <a:r>
              <a:rPr sz="1300" b="0">
                <a:solidFill>
                  <a:srgbClr val="000000"/>
                </a:solidFill>
                <a:latin typeface="Arial"/>
              </a:rPr>
              <a:t>NAND writes:  2x (WAL + compaction)</a:t>
            </a:r>
            <a:endParaRPr/>
          </a:p>
          <a:p>
            <a:pPr algn="l"/>
            <a:r>
              <a:rPr sz="1300" b="0">
                <a:solidFill>
                  <a:srgbClr val="000000"/>
                </a:solidFill>
                <a:latin typeface="Arial"/>
              </a:rPr>
              <a:t>PCIe traffic: 1x data crossing</a:t>
            </a:r>
            <a:endParaRPr/>
          </a:p>
          <a:p>
            <a:pPr algn="l"/>
            <a:r>
              <a:rPr sz="1300" b="0">
                <a:solidFill>
                  <a:srgbClr val="000000"/>
                </a:solidFill>
                <a:latin typeface="Arial"/>
              </a:rPr>
              <a:t>CPU: index update only</a:t>
            </a:r>
            <a:endParaRPr/>
          </a:p>
          <a:p>
            <a:pPr algn="l"/>
            <a:r>
              <a:rPr sz="1300" b="0">
                <a:solidFill>
                  <a:srgbClr val="000000"/>
                </a:solidFill>
                <a:latin typeface="Arial"/>
              </a:rPr>
              <a:t>Memory: 2-10 MB index + few MB cache</a:t>
            </a:r>
            <a:endParaRPr/>
          </a:p>
          <a:p>
            <a:pPr algn="l"/>
            <a:r>
              <a:rPr sz="1300" b="0">
                <a:solidFill>
                  <a:srgbClr val="000000"/>
                </a:solidFill>
                <a:latin typeface="Arial"/>
              </a:rPr>
              <a:t>L0 overlap: NO (partition-aligned)</a:t>
            </a:r>
            <a:endParaRPr/>
          </a:p>
          <a:p>
            <a:pPr algn="l"/>
            <a:r>
              <a:rPr sz="1300" b="0">
                <a:solidFill>
                  <a:srgbClr val="000000"/>
                </a:solidFill>
                <a:latin typeface="Arial"/>
              </a:rPr>
              <a:t>Write stall: eliminated (CSD async)</a:t>
            </a:r>
            <a:endParaRPr/>
          </a:p>
        </p:txBody>
      </p:sp>
      <p:sp>
        <p:nvSpPr>
          <p:cNvPr id="30" name="TextBox 5"/>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14</a:t>
            </a:r>
            <a:endParaR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31" name=""/>
        <p:cNvGrpSpPr/>
        <p:nvPr/>
      </p:nvGrpSpPr>
      <p:grpSpPr>
        <a:xfrm>
          <a:off x="0" y="0"/>
          <a:ext cx="0" cy="0"/>
          <a:chOff x="0" y="0"/>
          <a:chExt cx="0" cy="0"/>
        </a:xfrm>
      </p:grpSpPr>
      <p:sp>
        <p:nvSpPr>
          <p:cNvPr id="32"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6. Expected Results and Experimental Plan</a:t>
            </a:r>
            <a:endParaRPr/>
          </a:p>
        </p:txBody>
      </p:sp>
      <p:cxnSp>
        <p:nvCxnSpPr>
          <p:cNvPr id="33"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34" name="TextBox 3"/>
          <p:cNvSpPr txBox="1"/>
          <p:nvPr/>
        </p:nvSpPr>
        <p:spPr>
          <a:xfrm>
            <a:off x="548640" y="1280160"/>
            <a:ext cx="11064240" cy="2500000"/>
          </a:xfrm>
          <a:prstGeom prst="rect">
            <a:avLst/>
          </a:prstGeom>
          <a:noFill/>
        </p:spPr>
        <p:txBody>
          <a:bodyPr wrap="square">
            <a:spAutoFit/>
          </a:bodyPr>
          <a:lstStyle/>
          <a:p>
            <a:pPr/>
            <a:r>
              <a:rPr sz="1600" b="1">
                <a:solidFill>
                  <a:srgbClr val="000000"/>
                </a:solidFill>
                <a:latin typeface="Arial"/>
              </a:rPr>
              <a:t>Testbed:</a:t>
            </a:r>
            <a:endParaRPr/>
          </a:p>
          <a:p>
            <a:pPr/>
            <a:r>
              <a:rPr sz="1500" b="0">
                <a:solidFill>
                  <a:srgbClr val="000000"/>
                </a:solidFill>
                <a:latin typeface="Arial"/>
              </a:rPr>
              <a:t>  2x Intel Xeon Gold 5220, 64GB DDR4, Samsung SmartSSD (Xilinx UltraScale+ FPGA)</a:t>
            </a:r>
            <a:endParaRPr/>
          </a:p>
          <a:p>
            <a:pPr/>
            <a:endParaRPr sz="1500" b="0">
              <a:solidFill>
                <a:srgbClr val="000000"/>
              </a:solidFill>
              <a:latin typeface="Arial"/>
            </a:endParaRPr>
          </a:p>
          <a:p>
            <a:pPr/>
            <a:r>
              <a:rPr sz="1600" b="1">
                <a:solidFill>
                  <a:srgbClr val="000000"/>
                </a:solidFill>
                <a:latin typeface="Arial"/>
              </a:rPr>
              <a:t>Baselines:</a:t>
            </a:r>
            <a:endParaRPr/>
          </a:p>
          <a:p>
            <a:pPr/>
            <a:r>
              <a:rPr sz="1500" b="0">
                <a:solidFill>
                  <a:srgbClr val="000000"/>
                </a:solidFill>
                <a:latin typeface="Arial"/>
              </a:rPr>
              <a:t>  RocksDB (traditional), Titan (KV-sep, Direct GC), ZeroFlush w/o CSD (host-side)</a:t>
            </a:r>
            <a:endParaRPr/>
          </a:p>
          <a:p>
            <a:pPr/>
            <a:endParaRPr sz="1500" b="0">
              <a:solidFill>
                <a:srgbClr val="000000"/>
              </a:solidFill>
              <a:latin typeface="Arial"/>
            </a:endParaRPr>
          </a:p>
          <a:p>
            <a:pPr/>
            <a:r>
              <a:rPr sz="1600" b="1">
                <a:solidFill>
                  <a:srgbClr val="000000"/>
                </a:solidFill>
                <a:latin typeface="Arial"/>
              </a:rPr>
              <a:t>Workloads:</a:t>
            </a:r>
            <a:endParaRPr/>
          </a:p>
          <a:p>
            <a:pPr/>
            <a:r>
              <a:rPr sz="1500" b="0">
                <a:solidFill>
                  <a:srgbClr val="000000"/>
                </a:solidFill>
                <a:latin typeface="Arial"/>
              </a:rPr>
              <a:t>  YCSB A-F (zipfian, 200M ops), Twitter traces, Social Graph</a:t>
            </a:r>
            <a:endParaRPr/>
          </a:p>
          <a:p>
            <a:pPr/>
            <a:endParaRPr sz="1500" b="0">
              <a:solidFill>
                <a:srgbClr val="000000"/>
              </a:solidFill>
              <a:latin typeface="Arial"/>
            </a:endParaRPr>
          </a:p>
          <a:p>
            <a:pPr/>
            <a:r>
              <a:rPr sz="1600" b="1">
                <a:solidFill>
                  <a:srgbClr val="000000"/>
                </a:solidFill>
                <a:latin typeface="Arial"/>
              </a:rPr>
              <a:t>Expected outcomes:</a:t>
            </a:r>
            <a:endParaRPr/>
          </a:p>
        </p:txBody>
      </p:sp>
      <p:sp>
        <p:nvSpPr>
          <p:cNvPr id="35" name="Rectangle 4"/>
          <p:cNvSpPr/>
          <p:nvPr/>
        </p:nvSpPr>
        <p:spPr>
          <a:xfrm>
            <a:off x="548640" y="3600000"/>
            <a:ext cx="5200000" cy="1800000"/>
          </a:xfrm>
          <a:prstGeom prst="rect">
            <a:avLst/>
          </a:prstGeom>
          <a:solidFill>
            <a:srgbClr val="E6F1FB"/>
          </a:solidFill>
          <a:ln w="6350">
            <a:solidFill>
              <a:srgbClr val="185F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185FA5"/>
                </a:solidFill>
                <a:latin typeface="Arial"/>
              </a:rPr>
              <a:t>Throughput / Latency</a:t>
            </a:r>
            <a:endParaRPr/>
          </a:p>
          <a:p>
            <a:pPr algn="l"/>
            <a:r>
              <a:rPr sz="1300" b="0">
                <a:solidFill>
                  <a:srgbClr val="000000"/>
                </a:solidFill>
                <a:latin typeface="Arial"/>
              </a:rPr>
              <a:t>Write throughput close to Titan w/o GC</a:t>
            </a:r>
            <a:endParaRPr/>
          </a:p>
          <a:p>
            <a:pPr algn="l"/>
            <a:r>
              <a:rPr sz="1300" b="0">
                <a:solidFill>
                  <a:srgbClr val="000000"/>
                </a:solidFill>
                <a:latin typeface="Arial"/>
              </a:rPr>
              <a:t>(no flush overhead, no stall)</a:t>
            </a:r>
            <a:endParaRPr/>
          </a:p>
          <a:p>
            <a:pPr algn="l"/>
            <a:r>
              <a:rPr sz="1300" b="0">
                <a:solidFill>
                  <a:srgbClr val="000000"/>
                </a:solidFill>
                <a:latin typeface="Arial"/>
              </a:rPr>
              <a:t>P99 latency: bounded by CSD async</a:t>
            </a:r>
            <a:endParaRPr/>
          </a:p>
          <a:p>
            <a:pPr algn="l"/>
            <a:r>
              <a:rPr sz="1300" b="0">
                <a:solidFill>
                  <a:srgbClr val="000000"/>
                </a:solidFill>
                <a:latin typeface="Arial"/>
              </a:rPr>
              <a:t>Read: +write cache for hot keys</a:t>
            </a:r>
            <a:endParaRPr/>
          </a:p>
        </p:txBody>
      </p:sp>
      <p:sp>
        <p:nvSpPr>
          <p:cNvPr id="36" name="Rectangle 5"/>
          <p:cNvSpPr/>
          <p:nvPr/>
        </p:nvSpPr>
        <p:spPr>
          <a:xfrm>
            <a:off x="6000000" y="3600000"/>
            <a:ext cx="5600000" cy="1800000"/>
          </a:xfrm>
          <a:prstGeom prst="rect">
            <a:avLst/>
          </a:prstGeom>
          <a:solidFill>
            <a:srgbClr val="E1F5EE"/>
          </a:solidFill>
          <a:ln w="6350">
            <a:solidFill>
              <a:srgbClr val="0F6E5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F6E56"/>
                </a:solidFill>
                <a:latin typeface="Arial"/>
              </a:rPr>
              <a:t>Write Amplification / Space</a:t>
            </a:r>
            <a:endParaRPr/>
          </a:p>
          <a:p>
            <a:pPr algn="l"/>
            <a:r>
              <a:rPr sz="1300" b="0">
                <a:solidFill>
                  <a:srgbClr val="000000"/>
                </a:solidFill>
                <a:latin typeface="Arial"/>
              </a:rPr>
              <a:t>NAND write amp: 3x -&gt; 2x (flush eliminated)</a:t>
            </a:r>
            <a:endParaRPr/>
          </a:p>
          <a:p>
            <a:pPr algn="l"/>
            <a:r>
              <a:rPr sz="1300" b="0">
                <a:solidFill>
                  <a:srgbClr val="000000"/>
                </a:solidFill>
                <a:latin typeface="Arial"/>
              </a:rPr>
              <a:t>PCIe traffic: -75%</a:t>
            </a:r>
            <a:endParaRPr/>
          </a:p>
          <a:p>
            <a:pPr algn="l"/>
            <a:r>
              <a:rPr sz="1300" b="0">
                <a:solidFill>
                  <a:srgbClr val="000000"/>
                </a:solidFill>
                <a:latin typeface="Arial"/>
              </a:rPr>
              <a:t>Host memory: 64-256MB -&gt; 2-10MB</a:t>
            </a:r>
            <a:endParaRPr/>
          </a:p>
          <a:p>
            <a:pPr algn="l"/>
            <a:r>
              <a:rPr sz="1300" b="0">
                <a:solidFill>
                  <a:srgbClr val="000000"/>
                </a:solidFill>
                <a:latin typeface="Arial"/>
              </a:rPr>
              <a:t>L0 space: 0 (no separate L0 files)</a:t>
            </a:r>
            <a:endParaRPr/>
          </a:p>
        </p:txBody>
      </p:sp>
      <p:sp>
        <p:nvSpPr>
          <p:cNvPr id="37" name="TextBox 6"/>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15</a:t>
            </a:r>
            <a:endParaRP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38" name=""/>
        <p:cNvGrpSpPr/>
        <p:nvPr/>
      </p:nvGrpSpPr>
      <p:grpSpPr>
        <a:xfrm>
          <a:off x="0" y="0"/>
          <a:ext cx="0" cy="0"/>
          <a:chOff x="0" y="0"/>
          <a:chExt cx="0" cy="0"/>
        </a:xfrm>
      </p:grpSpPr>
      <p:sp>
        <p:nvSpPr>
          <p:cNvPr id="39" name="TextBox 1"/>
          <p:cNvSpPr txBox="1"/>
          <p:nvPr/>
        </p:nvSpPr>
        <p:spPr>
          <a:xfrm>
            <a:off x="548640" y="320040"/>
            <a:ext cx="11064240" cy="731520"/>
          </a:xfrm>
          <a:prstGeom prst="rect">
            <a:avLst/>
          </a:prstGeom>
          <a:noFill/>
        </p:spPr>
        <p:txBody>
          <a:bodyPr wrap="square">
            <a:spAutoFit/>
          </a:bodyPr>
          <a:lstStyle/>
          <a:p>
            <a:pPr/>
            <a:r>
              <a:rPr sz="2800" b="1">
                <a:solidFill>
                  <a:srgbClr val="000000"/>
                </a:solidFill>
                <a:latin typeface="Arial"/>
              </a:rPr>
              <a:t>7. Conclusion and Open Questions</a:t>
            </a:r>
            <a:endParaRPr/>
          </a:p>
        </p:txBody>
      </p:sp>
      <p:cxnSp>
        <p:nvCxnSpPr>
          <p:cNvPr id="40" name="Connector 2"/>
          <p:cNvCxnSpPr/>
          <p:nvPr/>
        </p:nvCxnSpPr>
        <p:spPr>
          <a:xfrm>
            <a:off x="548640" y="1051560"/>
            <a:ext cx="1109167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1" name="TextBox 3"/>
          <p:cNvSpPr txBox="1"/>
          <p:nvPr/>
        </p:nvSpPr>
        <p:spPr>
          <a:xfrm>
            <a:off x="548640" y="1280160"/>
            <a:ext cx="11064240" cy="4754880"/>
          </a:xfrm>
          <a:prstGeom prst="rect">
            <a:avLst/>
          </a:prstGeom>
          <a:noFill/>
        </p:spPr>
        <p:txBody>
          <a:bodyPr wrap="square">
            <a:spAutoFit/>
          </a:bodyPr>
          <a:lstStyle/>
          <a:p>
            <a:pPr/>
            <a:r>
              <a:rPr sz="1600" b="1">
                <a:solidFill>
                  <a:srgbClr val="000000"/>
                </a:solidFill>
                <a:latin typeface="Arial"/>
              </a:rPr>
              <a:t>Contributions:</a:t>
            </a:r>
            <a:endParaRPr/>
          </a:p>
          <a:p>
            <a:pPr/>
            <a:r>
              <a:rPr sz="1400" b="0">
                <a:solidFill>
                  <a:srgbClr val="000000"/>
                </a:solidFill>
                <a:latin typeface="Arial"/>
              </a:rPr>
              <a:t>  - Identifies three-way organization redundancy as root cause of write-path costs</a:t>
            </a:r>
            <a:endParaRPr/>
          </a:p>
          <a:p>
            <a:pPr/>
            <a:r>
              <a:rPr sz="1400" b="0">
                <a:solidFill>
                  <a:srgbClr val="000000"/>
                </a:solidFill>
                <a:latin typeface="Arial"/>
              </a:rPr>
              <a:t>  - Proposes "write once, organize in-place" with CSD as first-class participant</a:t>
            </a:r>
            <a:endParaRPr/>
          </a:p>
          <a:p>
            <a:pPr/>
            <a:r>
              <a:rPr sz="1400" b="0">
                <a:solidFill>
                  <a:srgbClr val="000000"/>
                </a:solidFill>
                <a:latin typeface="Arial"/>
              </a:rPr>
              <a:t>  - WAL partitioning + partition index: eliminates flush and L0 overlap</a:t>
            </a:r>
            <a:endParaRPr/>
          </a:p>
          <a:p>
            <a:pPr/>
            <a:r>
              <a:rPr sz="1400" b="0">
                <a:solidFill>
                  <a:srgbClr val="000000"/>
                </a:solidFill>
                <a:latin typeface="Arial"/>
              </a:rPr>
              <a:t>  - CSD merge compaction: zero PCIe, zero host CPU for background reorganization</a:t>
            </a:r>
            <a:endParaRPr/>
          </a:p>
          <a:p>
            <a:pPr/>
            <a:r>
              <a:rPr sz="1400" b="0">
                <a:solidFill>
                  <a:srgbClr val="000000"/>
                </a:solidFill>
                <a:latin typeface="Arial"/>
              </a:rPr>
              <a:t>  - Write amplification 3x -&gt; 2x; write stall eliminated; PCIe traffic -75%</a:t>
            </a:r>
            <a:endParaRPr/>
          </a:p>
          <a:p>
            <a:pPr/>
            <a:endParaRPr sz="1400" b="0">
              <a:solidFill>
                <a:srgbClr val="000000"/>
              </a:solidFill>
              <a:latin typeface="Arial"/>
            </a:endParaRPr>
          </a:p>
          <a:p>
            <a:pPr/>
            <a:r>
              <a:rPr sz="1600" b="1">
                <a:solidFill>
                  <a:srgbClr val="000000"/>
                </a:solidFill>
                <a:latin typeface="Arial"/>
              </a:rPr>
              <a:t>Open questions:</a:t>
            </a:r>
            <a:endParaRPr/>
          </a:p>
          <a:p>
            <a:pPr/>
            <a:r>
              <a:rPr sz="1400" b="0">
                <a:solidFill>
                  <a:srgbClr val="A32D2D"/>
                </a:solidFill>
                <a:latin typeface="Arial"/>
              </a:rPr>
              <a:t>  - L1 boundary changes: how to handle partition rebalancing after L1 split/merge?</a:t>
            </a:r>
            <a:endParaRPr/>
          </a:p>
          <a:p>
            <a:pPr/>
            <a:r>
              <a:rPr sz="1400" b="0">
                <a:solidFill>
                  <a:srgbClr val="A32D2D"/>
                </a:solidFill>
                <a:latin typeface="Arial"/>
              </a:rPr>
              <a:t>  - Read path: write cache hit rate under zipfian vs uniform distributions?</a:t>
            </a:r>
            <a:endParaRPr/>
          </a:p>
          <a:p>
            <a:pPr/>
            <a:r>
              <a:rPr sz="1400" b="0">
                <a:solidFill>
                  <a:srgbClr val="A32D2D"/>
                </a:solidFill>
                <a:latin typeface="Arial"/>
              </a:rPr>
              <a:t>  - CSD resource contention: compaction vs foreground SSD reads on shared NAND channels?</a:t>
            </a:r>
            <a:endParaRPr/>
          </a:p>
          <a:p>
            <a:pPr/>
            <a:r>
              <a:rPr sz="1400" b="0">
                <a:solidFill>
                  <a:srgbClr val="A32D2D"/>
                </a:solidFill>
                <a:latin typeface="Arial"/>
              </a:rPr>
              <a:t>  - Portability: tied to Samsung SmartSSD; CXL-based compute-storage as alternative?</a:t>
            </a:r>
            <a:endParaRPr/>
          </a:p>
          <a:p>
            <a:pPr/>
            <a:r>
              <a:rPr sz="1400" b="0">
                <a:solidFill>
                  <a:srgbClr val="A32D2D"/>
                </a:solidFill>
                <a:latin typeface="Arial"/>
              </a:rPr>
              <a:t>  - Crash recovery: WAL partitions are unordered; rebuild cost after power loss?</a:t>
            </a:r>
            <a:endParaRPr/>
          </a:p>
        </p:txBody>
      </p:sp>
      <p:sp>
        <p:nvSpPr>
          <p:cNvPr id="42" name="TextBox 4"/>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16</a:t>
            </a:r>
            <a:endParaRP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43" name=""/>
        <p:cNvGrpSpPr/>
        <p:nvPr/>
      </p:nvGrpSpPr>
      <p:grpSpPr>
        <a:xfrm>
          <a:off x="0" y="0"/>
          <a:ext cx="0" cy="0"/>
          <a:chOff x="0" y="0"/>
          <a:chExt cx="0" cy="0"/>
        </a:xfrm>
      </p:grpSpPr>
      <p:sp>
        <p:nvSpPr>
          <p:cNvPr id="44" name="TextBox 1"/>
          <p:cNvSpPr txBox="1"/>
          <p:nvPr/>
        </p:nvSpPr>
        <p:spPr>
          <a:xfrm>
            <a:off x="4572000" y="2743200"/>
            <a:ext cx="3017520" cy="822960"/>
          </a:xfrm>
          <a:prstGeom prst="rect">
            <a:avLst/>
          </a:prstGeom>
          <a:noFill/>
        </p:spPr>
        <p:txBody>
          <a:bodyPr wrap="none">
            <a:spAutoFit/>
          </a:bodyPr>
          <a:lstStyle/>
          <a:p>
            <a:pPr algn="ctr"/>
            <a:r>
              <a:rPr sz="4400" b="1">
                <a:solidFill>
                  <a:srgbClr val="000000"/>
                </a:solidFill>
                <a:latin typeface="Arial"/>
              </a:rPr>
              <a:t>Thank You</a:t>
            </a:r>
            <a:endParaRPr/>
          </a:p>
        </p:txBody>
      </p:sp>
      <p:sp>
        <p:nvSpPr>
          <p:cNvPr id="45" name="TextBox 2"/>
          <p:cNvSpPr txBox="1"/>
          <p:nvPr/>
        </p:nvSpPr>
        <p:spPr>
          <a:xfrm>
            <a:off x="11338560" y="6400800"/>
            <a:ext cx="640080" cy="365760"/>
          </a:xfrm>
          <a:prstGeom prst="rect">
            <a:avLst/>
          </a:prstGeom>
          <a:noFill/>
        </p:spPr>
        <p:txBody>
          <a:bodyPr wrap="none">
            <a:spAutoFit/>
          </a:bodyPr>
          <a:lstStyle/>
          <a:p>
            <a:pPr algn="r"/>
            <a:r>
              <a:rPr sz="1200">
                <a:solidFill>
                  <a:srgbClr val="000000"/>
                </a:solidFill>
                <a:latin typeface="Arial"/>
              </a:rPr>
              <a:t>17</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2026-08-03T19:20:38Z</dcterms:created>
  <dcterms:modified xsi:type="dcterms:W3CDTF">2026-08-03T19:20:38Z</dcterms:modified>
</cp:coreProperties>
</file>